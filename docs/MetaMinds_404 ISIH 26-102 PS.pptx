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Arial Bold" charset="1" panose="020B0704020202020204"/>
      <p:regular r:id="rId13"/>
    </p:embeddedFont>
    <p:embeddedFont>
      <p:font typeface="Times New Roman Bold" charset="1" panose="02020803070505020304"/>
      <p:regular r:id="rId14"/>
    </p:embeddedFont>
    <p:embeddedFont>
      <p:font typeface="Arimo Bold" charset="1" panose="020B0704020202020204"/>
      <p:regular r:id="rId15"/>
    </p:embeddedFont>
    <p:embeddedFont>
      <p:font typeface="Arimo" charset="1" panose="020B0604020202020204"/>
      <p:regular r:id="rId16"/>
    </p:embeddedFont>
    <p:embeddedFont>
      <p:font typeface="Calibri (MS)" charset="1" panose="020F0502020204030204"/>
      <p:regular r:id="rId17"/>
    </p:embeddedFont>
    <p:embeddedFont>
      <p:font typeface="Tomorrow Bold" charset="1" panose="00000000000000000000"/>
      <p:regular r:id="rId18"/>
    </p:embeddedFont>
    <p:embeddedFont>
      <p:font typeface="Tomorrow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jpe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1.sv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hyperlink" Target="https://mplads.mospi.gov.in/digigov/dashboard.html" TargetMode="External"/><Relationship Id="rId5" Type="http://schemas.openxmlformats.org/officeDocument/2006/relationships/hyperlink" Target="https://mplads.mospi.gov.in/digigov/dashboard.html" TargetMode="External"/><Relationship Id="rId6" Type="http://schemas.openxmlformats.org/officeDocument/2006/relationships/hyperlink" Target="https://mplads.mospi.gov.in/digigov/dashboard.html?utm_source=chatgpt.com" TargetMode="External"/><Relationship Id="rId7" Type="http://schemas.openxmlformats.org/officeDocument/2006/relationships/hyperlink" Target="https://mplads.mospi.gov.in/digigov/dashboard.html" TargetMode="External"/><Relationship Id="rId8" Type="http://schemas.openxmlformats.org/officeDocument/2006/relationships/hyperlink" Target="https://mplads.mospi.gov.in/digigov/dashboard.html" TargetMode="External"/><Relationship Id="rId9" Type="http://schemas.openxmlformats.org/officeDocument/2006/relationships/hyperlink" Target="https://www.mplads.gov.in/?utm_source=chatgpt.com" TargetMode="External"/><Relationship Id="rId10" Type="http://schemas.openxmlformats.org/officeDocument/2006/relationships/hyperlink" Target="https://mplads.mospi.gov.in/digigov/dashboard.html" TargetMode="External"/><Relationship Id="rId11" Type="http://schemas.openxmlformats.org/officeDocument/2006/relationships/hyperlink" Target="https://mplads.mospi.gov.in/digigov/dashboard.html" TargetMode="External"/><Relationship Id="rId12" Type="http://schemas.openxmlformats.org/officeDocument/2006/relationships/hyperlink" Target="https://www.pib.gov.in/PressReleasePage.aspx?PRID=2235932&amp;lang=1&amp;reg=3" TargetMode="External"/><Relationship Id="rId13" Type="http://schemas.openxmlformats.org/officeDocument/2006/relationships/hyperlink" Target="https://mplads.mospi.gov.in/digigov/dashboard.html" TargetMode="External"/><Relationship Id="rId14" Type="http://schemas.openxmlformats.org/officeDocument/2006/relationships/hyperlink" Target="https://www.sciencedirect.com/science/article/pii/S1877050925035513?utm_source=chatgpt.com" TargetMode="External"/><Relationship Id="rId15" Type="http://schemas.openxmlformats.org/officeDocument/2006/relationships/hyperlink" Target="https://www.sciencedirect.com/science/article/pii/S1877050925035513" TargetMode="External"/><Relationship Id="rId16" Type="http://schemas.openxmlformats.org/officeDocument/2006/relationships/hyperlink" Target="https://www.sciencedirect.com/science/article/pii/S1877050925035513?utm_source=chatgpt.com" TargetMode="External"/><Relationship Id="rId17" Type="http://schemas.openxmlformats.org/officeDocument/2006/relationships/hyperlink" Target="https://mplads.mospi.gov.in/digigov/dashboard.html" TargetMode="External"/><Relationship Id="rId18" Type="http://schemas.openxmlformats.org/officeDocument/2006/relationships/hyperlink" Target="https://mplads.mospi.gov.in/digigov/dashboard.html" TargetMode="External"/><Relationship Id="rId19" Type="http://schemas.openxmlformats.org/officeDocument/2006/relationships/hyperlink" Target="https://www.sciencedirect.com/science/article/pii/S2667096824000934" TargetMode="External"/><Relationship Id="rId20" Type="http://schemas.openxmlformats.org/officeDocument/2006/relationships/hyperlink" Target="https://mplads.mospi.gov.in/digigov/dashboard.html" TargetMode="External"/><Relationship Id="rId21" Type="http://schemas.openxmlformats.org/officeDocument/2006/relationships/hyperlink" Target="https://mplads.mospi.gov.in/digigov/dashboard.html" TargetMode="External"/><Relationship Id="rId22" Type="http://schemas.openxmlformats.org/officeDocument/2006/relationships/hyperlink" Target="https://www.sciencedirect.com/science/article/pii/S0740624X21000617" TargetMode="External"/><Relationship Id="rId23" Type="http://schemas.openxmlformats.org/officeDocument/2006/relationships/hyperlink" Target="https://mplads.mospi.gov.in/digigov/dashboard.html" TargetMode="External"/><Relationship Id="rId24" Type="http://schemas.openxmlformats.org/officeDocument/2006/relationships/hyperlink" Target="https://mplads.mospi.gov.in/digigov/dashboard.html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24830" y="1277274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698419" y="3132930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85154" y="1531837"/>
            <a:ext cx="11569112" cy="831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7"/>
              </a:lnSpc>
            </a:pPr>
          </a:p>
          <a:p>
            <a:pPr algn="just" marL="639011" indent="-319505" lvl="1">
              <a:lnSpc>
                <a:spcPts val="8474"/>
              </a:lnSpc>
              <a:buFont typeface="Arial"/>
              <a:buChar char="•"/>
            </a:pPr>
            <a:r>
              <a:rPr lang="en-US" b="true" sz="353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SIH26102</a:t>
            </a:r>
          </a:p>
          <a:p>
            <a:pPr algn="just" marL="532859" indent="-266430" lvl="1">
              <a:lnSpc>
                <a:spcPts val="7066"/>
              </a:lnSpc>
              <a:buFont typeface="Arial"/>
              <a:buChar char="•"/>
            </a:pPr>
            <a:r>
              <a:rPr lang="en-US" b="true" sz="294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Development of an AI-powered system to detect anomalies, fraud, and inefficiencies in MPLAD Scheme implementation regd.</a:t>
            </a:r>
          </a:p>
          <a:p>
            <a:pPr algn="just" marL="639011" indent="-319505" lvl="1">
              <a:lnSpc>
                <a:spcPts val="8474"/>
              </a:lnSpc>
              <a:buFont typeface="Arial"/>
              <a:buChar char="•"/>
            </a:pPr>
            <a:r>
              <a:rPr lang="en-US" b="true" sz="353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Smart Automation</a:t>
            </a:r>
          </a:p>
          <a:p>
            <a:pPr algn="just" marL="639011" indent="-319505" lvl="1">
              <a:lnSpc>
                <a:spcPts val="8474"/>
              </a:lnSpc>
              <a:buFont typeface="Arial"/>
              <a:buChar char="•"/>
            </a:pPr>
            <a:r>
              <a:rPr lang="en-US" b="true" sz="353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algn="just" marL="639011" indent="-319505" lvl="1">
              <a:lnSpc>
                <a:spcPts val="8474"/>
              </a:lnSpc>
              <a:buFont typeface="Arial"/>
              <a:buChar char="•"/>
            </a:pPr>
            <a:r>
              <a:rPr lang="en-US" b="true" sz="353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A3CC90</a:t>
            </a:r>
          </a:p>
          <a:p>
            <a:pPr algn="just" marL="639011" indent="-319505" lvl="1">
              <a:lnSpc>
                <a:spcPts val="8474"/>
              </a:lnSpc>
              <a:buFont typeface="Arial"/>
              <a:buChar char="•"/>
            </a:pPr>
            <a:r>
              <a:rPr lang="en-US" b="true" sz="353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MetaMinds_404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37968" y="-621745"/>
            <a:ext cx="16539387" cy="2144792"/>
            <a:chOff x="0" y="0"/>
            <a:chExt cx="21945600" cy="28458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845858"/>
            </a:xfrm>
            <a:custGeom>
              <a:avLst/>
              <a:gdLst/>
              <a:ahLst/>
              <a:cxnLst/>
              <a:rect r="r" b="b" t="t" l="l"/>
              <a:pathLst>
                <a:path h="284585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845858"/>
                  </a:lnTo>
                  <a:lnTo>
                    <a:pt x="0" y="28458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0093" r="0" b="-9042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874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319"/>
                </a:lnSpc>
              </a:pPr>
            </a:p>
            <a:p>
              <a:pPr algn="ctr">
                <a:lnSpc>
                  <a:spcPts val="7319"/>
                </a:lnSpc>
              </a:pPr>
              <a:r>
                <a:rPr lang="en-US" sz="60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MPLADSentinel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</a:t>
              </a: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eam MetaMinds_404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27190" y="83096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554516" cy="170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MetaMinds_404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0" y="-28536"/>
            <a:ext cx="18339515" cy="9403170"/>
          </a:xfrm>
          <a:custGeom>
            <a:avLst/>
            <a:gdLst/>
            <a:ahLst/>
            <a:cxnLst/>
            <a:rect r="r" b="b" t="t" l="l"/>
            <a:pathLst>
              <a:path h="9403170" w="18339515">
                <a:moveTo>
                  <a:pt x="0" y="0"/>
                </a:moveTo>
                <a:lnTo>
                  <a:pt x="18339515" y="0"/>
                </a:lnTo>
                <a:lnTo>
                  <a:pt x="18339515" y="9403169"/>
                </a:lnTo>
                <a:lnTo>
                  <a:pt x="0" y="94031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6000"/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6328798" y="3451582"/>
            <a:ext cx="480334" cy="48033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0CEFD">
                    <a:alpha val="100000"/>
                  </a:srgbClr>
                </a:gs>
                <a:gs pos="100000">
                  <a:srgbClr val="E4F2FF">
                    <a:alpha val="100000"/>
                  </a:srgbClr>
                </a:gs>
              </a:gsLst>
              <a:lin ang="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507661" y="1513446"/>
            <a:ext cx="9525828" cy="7789146"/>
            <a:chOff x="0" y="0"/>
            <a:chExt cx="2508860" cy="20514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08860" cy="2051462"/>
            </a:xfrm>
            <a:custGeom>
              <a:avLst/>
              <a:gdLst/>
              <a:ahLst/>
              <a:cxnLst/>
              <a:rect r="r" b="b" t="t" l="l"/>
              <a:pathLst>
                <a:path h="2051462" w="2508860">
                  <a:moveTo>
                    <a:pt x="41449" y="0"/>
                  </a:moveTo>
                  <a:lnTo>
                    <a:pt x="2467411" y="0"/>
                  </a:lnTo>
                  <a:cubicBezTo>
                    <a:pt x="2478404" y="0"/>
                    <a:pt x="2488947" y="4367"/>
                    <a:pt x="2496720" y="12140"/>
                  </a:cubicBezTo>
                  <a:cubicBezTo>
                    <a:pt x="2504493" y="19913"/>
                    <a:pt x="2508860" y="30456"/>
                    <a:pt x="2508860" y="41449"/>
                  </a:cubicBezTo>
                  <a:lnTo>
                    <a:pt x="2508860" y="2010013"/>
                  </a:lnTo>
                  <a:cubicBezTo>
                    <a:pt x="2508860" y="2032905"/>
                    <a:pt x="2490303" y="2051462"/>
                    <a:pt x="2467411" y="2051462"/>
                  </a:cubicBezTo>
                  <a:lnTo>
                    <a:pt x="41449" y="2051462"/>
                  </a:lnTo>
                  <a:cubicBezTo>
                    <a:pt x="30456" y="2051462"/>
                    <a:pt x="19913" y="2047095"/>
                    <a:pt x="12140" y="2039322"/>
                  </a:cubicBezTo>
                  <a:cubicBezTo>
                    <a:pt x="4367" y="2031549"/>
                    <a:pt x="0" y="2021006"/>
                    <a:pt x="0" y="2010013"/>
                  </a:cubicBezTo>
                  <a:lnTo>
                    <a:pt x="0" y="41449"/>
                  </a:lnTo>
                  <a:cubicBezTo>
                    <a:pt x="0" y="30456"/>
                    <a:pt x="4367" y="19913"/>
                    <a:pt x="12140" y="12140"/>
                  </a:cubicBezTo>
                  <a:cubicBezTo>
                    <a:pt x="19913" y="4367"/>
                    <a:pt x="30456" y="0"/>
                    <a:pt x="41449" y="0"/>
                  </a:cubicBezTo>
                  <a:close/>
                </a:path>
              </a:pathLst>
            </a:custGeom>
            <a:solidFill>
              <a:srgbClr val="FDFCF9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508860" cy="2099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257847" y="6775363"/>
            <a:ext cx="4982153" cy="2458565"/>
            <a:chOff x="0" y="0"/>
            <a:chExt cx="1312172" cy="64752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12172" cy="647523"/>
            </a:xfrm>
            <a:custGeom>
              <a:avLst/>
              <a:gdLst/>
              <a:ahLst/>
              <a:cxnLst/>
              <a:rect r="r" b="b" t="t" l="l"/>
              <a:pathLst>
                <a:path h="647523" w="1312172">
                  <a:moveTo>
                    <a:pt x="79250" y="0"/>
                  </a:moveTo>
                  <a:lnTo>
                    <a:pt x="1232921" y="0"/>
                  </a:lnTo>
                  <a:cubicBezTo>
                    <a:pt x="1253940" y="0"/>
                    <a:pt x="1274098" y="8350"/>
                    <a:pt x="1288960" y="23212"/>
                  </a:cubicBezTo>
                  <a:cubicBezTo>
                    <a:pt x="1303822" y="38074"/>
                    <a:pt x="1312172" y="58232"/>
                    <a:pt x="1312172" y="79250"/>
                  </a:cubicBezTo>
                  <a:lnTo>
                    <a:pt x="1312172" y="568273"/>
                  </a:lnTo>
                  <a:cubicBezTo>
                    <a:pt x="1312172" y="612042"/>
                    <a:pt x="1276690" y="647523"/>
                    <a:pt x="1232921" y="647523"/>
                  </a:cubicBezTo>
                  <a:lnTo>
                    <a:pt x="79250" y="647523"/>
                  </a:lnTo>
                  <a:cubicBezTo>
                    <a:pt x="35482" y="647523"/>
                    <a:pt x="0" y="612042"/>
                    <a:pt x="0" y="568273"/>
                  </a:cubicBezTo>
                  <a:lnTo>
                    <a:pt x="0" y="79250"/>
                  </a:lnTo>
                  <a:cubicBezTo>
                    <a:pt x="0" y="35482"/>
                    <a:pt x="35482" y="0"/>
                    <a:pt x="79250" y="0"/>
                  </a:cubicBezTo>
                  <a:close/>
                </a:path>
              </a:pathLst>
            </a:custGeom>
            <a:solidFill>
              <a:srgbClr val="FDFCF9"/>
            </a:solidFill>
            <a:ln w="28575" cap="rnd">
              <a:solidFill>
                <a:srgbClr val="1F497D"/>
              </a:solidFill>
              <a:prstDash val="sysDot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312172" cy="695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7"/>
                </a:lnSpc>
              </a:pPr>
            </a:p>
            <a:p>
              <a:pPr algn="ctr">
                <a:lnSpc>
                  <a:spcPts val="2719"/>
                </a:lnSpc>
              </a:pPr>
            </a:p>
          </p:txBody>
        </p:sp>
      </p:grpSp>
      <p:sp>
        <p:nvSpPr>
          <p:cNvPr name="AutoShape 28" id="28"/>
          <p:cNvSpPr/>
          <p:nvPr/>
        </p:nvSpPr>
        <p:spPr>
          <a:xfrm flipV="true">
            <a:off x="8507661" y="2264206"/>
            <a:ext cx="9525828" cy="2441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164003" y="1724753"/>
            <a:ext cx="8219833" cy="7649880"/>
            <a:chOff x="0" y="0"/>
            <a:chExt cx="2164894" cy="201478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64894" cy="2014783"/>
            </a:xfrm>
            <a:custGeom>
              <a:avLst/>
              <a:gdLst/>
              <a:ahLst/>
              <a:cxnLst/>
              <a:rect r="r" b="b" t="t" l="l"/>
              <a:pathLst>
                <a:path h="2014783" w="2164894">
                  <a:moveTo>
                    <a:pt x="62163" y="0"/>
                  </a:moveTo>
                  <a:lnTo>
                    <a:pt x="2102732" y="0"/>
                  </a:lnTo>
                  <a:cubicBezTo>
                    <a:pt x="2137063" y="0"/>
                    <a:pt x="2164894" y="27831"/>
                    <a:pt x="2164894" y="62163"/>
                  </a:cubicBezTo>
                  <a:lnTo>
                    <a:pt x="2164894" y="1952621"/>
                  </a:lnTo>
                  <a:cubicBezTo>
                    <a:pt x="2164894" y="1986952"/>
                    <a:pt x="2137063" y="2014783"/>
                    <a:pt x="2102732" y="2014783"/>
                  </a:cubicBezTo>
                  <a:lnTo>
                    <a:pt x="62163" y="2014783"/>
                  </a:lnTo>
                  <a:cubicBezTo>
                    <a:pt x="27831" y="2014783"/>
                    <a:pt x="0" y="1986952"/>
                    <a:pt x="0" y="1952621"/>
                  </a:cubicBezTo>
                  <a:lnTo>
                    <a:pt x="0" y="62163"/>
                  </a:lnTo>
                  <a:cubicBezTo>
                    <a:pt x="0" y="27831"/>
                    <a:pt x="27831" y="0"/>
                    <a:pt x="6216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424242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2164894" cy="2043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459598" y="1791543"/>
            <a:ext cx="7546558" cy="1097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6"/>
              </a:lnSpc>
              <a:spcBef>
                <a:spcPct val="0"/>
              </a:spcBef>
            </a:pPr>
            <a:r>
              <a:rPr lang="en-US" b="true" sz="2557" spc="-13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Proposed Solution</a:t>
            </a:r>
          </a:p>
          <a:p>
            <a:pPr algn="l">
              <a:lnSpc>
                <a:spcPts val="2646"/>
              </a:lnSpc>
            </a:pPr>
          </a:p>
          <a:p>
            <a:pPr algn="l">
              <a:lnSpc>
                <a:spcPts val="2648"/>
              </a:lnSpc>
            </a:pPr>
          </a:p>
        </p:txBody>
      </p:sp>
      <p:grpSp>
        <p:nvGrpSpPr>
          <p:cNvPr name="Group 33" id="33"/>
          <p:cNvGrpSpPr/>
          <p:nvPr/>
        </p:nvGrpSpPr>
        <p:grpSpPr>
          <a:xfrm rot="0">
            <a:off x="260987" y="2277680"/>
            <a:ext cx="4813463" cy="2606891"/>
            <a:chOff x="0" y="0"/>
            <a:chExt cx="1267743" cy="6865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67743" cy="686588"/>
            </a:xfrm>
            <a:custGeom>
              <a:avLst/>
              <a:gdLst/>
              <a:ahLst/>
              <a:cxnLst/>
              <a:rect r="r" b="b" t="t" l="l"/>
              <a:pathLst>
                <a:path h="686588" w="1267743">
                  <a:moveTo>
                    <a:pt x="82028" y="0"/>
                  </a:moveTo>
                  <a:lnTo>
                    <a:pt x="1185715" y="0"/>
                  </a:lnTo>
                  <a:cubicBezTo>
                    <a:pt x="1231018" y="0"/>
                    <a:pt x="1267743" y="36725"/>
                    <a:pt x="1267743" y="82028"/>
                  </a:cubicBezTo>
                  <a:lnTo>
                    <a:pt x="1267743" y="604561"/>
                  </a:lnTo>
                  <a:cubicBezTo>
                    <a:pt x="1267743" y="626316"/>
                    <a:pt x="1259101" y="647180"/>
                    <a:pt x="1243718" y="662563"/>
                  </a:cubicBezTo>
                  <a:cubicBezTo>
                    <a:pt x="1228335" y="677946"/>
                    <a:pt x="1207471" y="686588"/>
                    <a:pt x="1185715" y="686588"/>
                  </a:cubicBezTo>
                  <a:lnTo>
                    <a:pt x="82028" y="686588"/>
                  </a:lnTo>
                  <a:cubicBezTo>
                    <a:pt x="36725" y="686588"/>
                    <a:pt x="0" y="649863"/>
                    <a:pt x="0" y="604561"/>
                  </a:cubicBezTo>
                  <a:lnTo>
                    <a:pt x="0" y="82028"/>
                  </a:lnTo>
                  <a:cubicBezTo>
                    <a:pt x="0" y="60273"/>
                    <a:pt x="8642" y="39409"/>
                    <a:pt x="24025" y="24025"/>
                  </a:cubicBezTo>
                  <a:cubicBezTo>
                    <a:pt x="39409" y="8642"/>
                    <a:pt x="60273" y="0"/>
                    <a:pt x="82028" y="0"/>
                  </a:cubicBezTo>
                  <a:close/>
                </a:path>
              </a:pathLst>
            </a:custGeom>
            <a:solidFill>
              <a:srgbClr val="FDFCF9"/>
            </a:solidFill>
            <a:ln w="28575" cap="rnd">
              <a:solidFill>
                <a:srgbClr val="FC9223"/>
              </a:solidFill>
              <a:prstDash val="sysDot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267743" cy="73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207883" y="2277680"/>
            <a:ext cx="3029240" cy="3079707"/>
            <a:chOff x="0" y="0"/>
            <a:chExt cx="797825" cy="81111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97825" cy="811116"/>
            </a:xfrm>
            <a:custGeom>
              <a:avLst/>
              <a:gdLst/>
              <a:ahLst/>
              <a:cxnLst/>
              <a:rect r="r" b="b" t="t" l="l"/>
              <a:pathLst>
                <a:path h="811116" w="797825">
                  <a:moveTo>
                    <a:pt x="130342" y="0"/>
                  </a:moveTo>
                  <a:lnTo>
                    <a:pt x="667482" y="0"/>
                  </a:lnTo>
                  <a:cubicBezTo>
                    <a:pt x="739468" y="0"/>
                    <a:pt x="797825" y="58356"/>
                    <a:pt x="797825" y="130342"/>
                  </a:cubicBezTo>
                  <a:lnTo>
                    <a:pt x="797825" y="680774"/>
                  </a:lnTo>
                  <a:cubicBezTo>
                    <a:pt x="797825" y="752760"/>
                    <a:pt x="739468" y="811116"/>
                    <a:pt x="667482" y="811116"/>
                  </a:cubicBezTo>
                  <a:lnTo>
                    <a:pt x="130342" y="811116"/>
                  </a:lnTo>
                  <a:cubicBezTo>
                    <a:pt x="58356" y="811116"/>
                    <a:pt x="0" y="752760"/>
                    <a:pt x="0" y="680774"/>
                  </a:cubicBezTo>
                  <a:lnTo>
                    <a:pt x="0" y="130342"/>
                  </a:lnTo>
                  <a:cubicBezTo>
                    <a:pt x="0" y="58356"/>
                    <a:pt x="58356" y="0"/>
                    <a:pt x="130342" y="0"/>
                  </a:cubicBezTo>
                  <a:close/>
                </a:path>
              </a:pathLst>
            </a:custGeom>
            <a:solidFill>
              <a:srgbClr val="FDFCF9"/>
            </a:solidFill>
            <a:ln w="28575" cap="rnd">
              <a:solidFill>
                <a:srgbClr val="138E44"/>
              </a:solidFill>
              <a:prstDash val="sysDot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797825" cy="858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7"/>
                </a:lnSpc>
              </a:pPr>
            </a:p>
            <a:p>
              <a:pPr algn="ctr">
                <a:lnSpc>
                  <a:spcPts val="271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27190" y="4983111"/>
            <a:ext cx="4261025" cy="4275189"/>
            <a:chOff x="0" y="0"/>
            <a:chExt cx="1122245" cy="112597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22245" cy="1125976"/>
            </a:xfrm>
            <a:custGeom>
              <a:avLst/>
              <a:gdLst/>
              <a:ahLst/>
              <a:cxnLst/>
              <a:rect r="r" b="b" t="t" l="l"/>
              <a:pathLst>
                <a:path h="1125976" w="1122245">
                  <a:moveTo>
                    <a:pt x="92663" y="0"/>
                  </a:moveTo>
                  <a:lnTo>
                    <a:pt x="1029583" y="0"/>
                  </a:lnTo>
                  <a:cubicBezTo>
                    <a:pt x="1080759" y="0"/>
                    <a:pt x="1122245" y="41486"/>
                    <a:pt x="1122245" y="92663"/>
                  </a:cubicBezTo>
                  <a:lnTo>
                    <a:pt x="1122245" y="1033313"/>
                  </a:lnTo>
                  <a:cubicBezTo>
                    <a:pt x="1122245" y="1084489"/>
                    <a:pt x="1080759" y="1125976"/>
                    <a:pt x="1029583" y="1125976"/>
                  </a:cubicBezTo>
                  <a:lnTo>
                    <a:pt x="92663" y="1125976"/>
                  </a:lnTo>
                  <a:cubicBezTo>
                    <a:pt x="41486" y="1125976"/>
                    <a:pt x="0" y="1084489"/>
                    <a:pt x="0" y="1033313"/>
                  </a:cubicBezTo>
                  <a:lnTo>
                    <a:pt x="0" y="92663"/>
                  </a:lnTo>
                  <a:cubicBezTo>
                    <a:pt x="0" y="41486"/>
                    <a:pt x="41486" y="0"/>
                    <a:pt x="92663" y="0"/>
                  </a:cubicBezTo>
                  <a:close/>
                </a:path>
              </a:pathLst>
            </a:custGeom>
            <a:solidFill>
              <a:srgbClr val="FDFCF9"/>
            </a:solidFill>
            <a:ln w="28575" cap="rnd">
              <a:solidFill>
                <a:srgbClr val="138E44"/>
              </a:solidFill>
              <a:prstDash val="sysDot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122245" cy="1173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7"/>
                </a:lnSpc>
              </a:pPr>
            </a:p>
            <a:p>
              <a:pPr algn="ctr">
                <a:lnSpc>
                  <a:spcPts val="2719"/>
                </a:lnSpc>
              </a:pPr>
            </a:p>
          </p:txBody>
        </p:sp>
      </p:grpSp>
      <p:sp>
        <p:nvSpPr>
          <p:cNvPr name="AutoShape 42" id="42"/>
          <p:cNvSpPr/>
          <p:nvPr/>
        </p:nvSpPr>
        <p:spPr>
          <a:xfrm flipV="true">
            <a:off x="10312133" y="7207103"/>
            <a:ext cx="4924896" cy="55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4892786" y="5549693"/>
            <a:ext cx="3113369" cy="3461521"/>
            <a:chOff x="0" y="0"/>
            <a:chExt cx="819982" cy="91167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9982" cy="911676"/>
            </a:xfrm>
            <a:custGeom>
              <a:avLst/>
              <a:gdLst/>
              <a:ahLst/>
              <a:cxnLst/>
              <a:rect r="r" b="b" t="t" l="l"/>
              <a:pathLst>
                <a:path h="911676" w="819982">
                  <a:moveTo>
                    <a:pt x="126820" y="0"/>
                  </a:moveTo>
                  <a:lnTo>
                    <a:pt x="693162" y="0"/>
                  </a:lnTo>
                  <a:cubicBezTo>
                    <a:pt x="763203" y="0"/>
                    <a:pt x="819982" y="56779"/>
                    <a:pt x="819982" y="126820"/>
                  </a:cubicBezTo>
                  <a:lnTo>
                    <a:pt x="819982" y="784856"/>
                  </a:lnTo>
                  <a:cubicBezTo>
                    <a:pt x="819982" y="854897"/>
                    <a:pt x="763203" y="911676"/>
                    <a:pt x="693162" y="911676"/>
                  </a:cubicBezTo>
                  <a:lnTo>
                    <a:pt x="126820" y="911676"/>
                  </a:lnTo>
                  <a:cubicBezTo>
                    <a:pt x="56779" y="911676"/>
                    <a:pt x="0" y="854897"/>
                    <a:pt x="0" y="784856"/>
                  </a:cubicBezTo>
                  <a:lnTo>
                    <a:pt x="0" y="126820"/>
                  </a:lnTo>
                  <a:cubicBezTo>
                    <a:pt x="0" y="56779"/>
                    <a:pt x="56779" y="0"/>
                    <a:pt x="126820" y="0"/>
                  </a:cubicBezTo>
                  <a:close/>
                </a:path>
              </a:pathLst>
            </a:custGeom>
            <a:solidFill>
              <a:srgbClr val="FDFCF9"/>
            </a:solidFill>
            <a:ln w="28575" cap="rnd">
              <a:solidFill>
                <a:srgbClr val="FC9223"/>
              </a:solidFill>
              <a:prstDash val="sysDot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819982" cy="959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9"/>
                </a:lnSpc>
              </a:pP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9079161" y="2359267"/>
            <a:ext cx="7924227" cy="4305140"/>
          </a:xfrm>
          <a:custGeom>
            <a:avLst/>
            <a:gdLst/>
            <a:ahLst/>
            <a:cxnLst/>
            <a:rect r="r" b="b" t="t" l="l"/>
            <a:pathLst>
              <a:path h="4305140" w="7924227">
                <a:moveTo>
                  <a:pt x="0" y="0"/>
                </a:moveTo>
                <a:lnTo>
                  <a:pt x="7924228" y="0"/>
                </a:lnTo>
                <a:lnTo>
                  <a:pt x="7924228" y="4305140"/>
                </a:lnTo>
                <a:lnTo>
                  <a:pt x="0" y="43051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86" t="-16237" r="-421" b="-7708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9418950" y="1647825"/>
            <a:ext cx="7954650" cy="629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0"/>
              </a:lnSpc>
              <a:spcBef>
                <a:spcPct val="0"/>
              </a:spcBef>
            </a:pPr>
            <a:r>
              <a:rPr lang="en-US" b="true" sz="3699" spc="-19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Flow of the proposed system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475315" y="6747749"/>
            <a:ext cx="4264892" cy="296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5"/>
              </a:lnSpc>
              <a:spcBef>
                <a:spcPct val="0"/>
              </a:spcBef>
            </a:pPr>
            <a:r>
              <a:rPr lang="en-US" b="true" sz="1806" spc="-9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How it addresses the problem?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12528" y="2321167"/>
            <a:ext cx="4395221" cy="306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7"/>
              </a:lnSpc>
              <a:spcBef>
                <a:spcPct val="0"/>
              </a:spcBef>
            </a:pPr>
            <a:r>
              <a:rPr lang="en-US" b="true" sz="1799" spc="-9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Government Intelligence Web Portal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12528" y="2597836"/>
            <a:ext cx="4661921" cy="2289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6773" indent="-183387" lvl="1">
              <a:lnSpc>
                <a:spcPts val="2309"/>
              </a:lnSpc>
              <a:buFont typeface="Arial"/>
              <a:buChar char="•"/>
            </a:pPr>
            <a:r>
              <a:rPr lang="en-US" sz="1698" spc="-8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Unified </a:t>
            </a:r>
            <a:r>
              <a:rPr lang="en-US" sz="1698" spc="-8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MPLADS project dashboard</a:t>
            </a:r>
          </a:p>
          <a:p>
            <a:pPr algn="l" marL="366773" indent="-183387" lvl="1">
              <a:lnSpc>
                <a:spcPts val="2309"/>
              </a:lnSpc>
              <a:buFont typeface="Arial"/>
              <a:buChar char="•"/>
            </a:pPr>
            <a:r>
              <a:rPr lang="en-US" sz="1698" spc="-8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AI-based risk scoring with explanations</a:t>
            </a:r>
          </a:p>
          <a:p>
            <a:pPr algn="l" marL="366773" indent="-183387" lvl="1">
              <a:lnSpc>
                <a:spcPts val="2309"/>
              </a:lnSpc>
              <a:buFont typeface="Arial"/>
              <a:buChar char="•"/>
            </a:pPr>
            <a:r>
              <a:rPr lang="en-US" sz="1698" spc="-8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Financial anomaly &amp; expenditure analysis</a:t>
            </a:r>
          </a:p>
          <a:p>
            <a:pPr algn="l" marL="366773" indent="-183387" lvl="1">
              <a:lnSpc>
                <a:spcPts val="2309"/>
              </a:lnSpc>
              <a:buFont typeface="Arial"/>
              <a:buChar char="•"/>
            </a:pPr>
            <a:r>
              <a:rPr lang="en-US" sz="1698" spc="-8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Progress–expenditure mismatch detection</a:t>
            </a:r>
          </a:p>
          <a:p>
            <a:pPr algn="l" marL="366773" indent="-183387" lvl="1">
              <a:lnSpc>
                <a:spcPts val="2308"/>
              </a:lnSpc>
              <a:buFont typeface="Arial"/>
              <a:buChar char="•"/>
            </a:pPr>
            <a:r>
              <a:rPr lang="en-US" sz="1698" spc="-8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Cost benchmarking</a:t>
            </a:r>
          </a:p>
          <a:p>
            <a:pPr algn="l" marL="366773" indent="-183387" lvl="1">
              <a:lnSpc>
                <a:spcPts val="2308"/>
              </a:lnSpc>
              <a:buFont typeface="Arial"/>
              <a:buChar char="•"/>
            </a:pPr>
            <a:r>
              <a:rPr lang="en-US" sz="1698" spc="-8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Delayed project prediction</a:t>
            </a:r>
          </a:p>
          <a:p>
            <a:pPr algn="l" marL="366773" indent="-183387" lvl="1">
              <a:lnSpc>
                <a:spcPts val="2308"/>
              </a:lnSpc>
              <a:buFont typeface="Arial"/>
              <a:buChar char="•"/>
            </a:pPr>
            <a:r>
              <a:rPr lang="en-US" sz="1698" spc="-8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Fund-utilisation analytics &amp; grounded AI assistant</a:t>
            </a:r>
          </a:p>
          <a:p>
            <a:pPr algn="l">
              <a:lnSpc>
                <a:spcPts val="2309"/>
              </a:lnSpc>
            </a:pPr>
          </a:p>
        </p:txBody>
      </p:sp>
      <p:sp>
        <p:nvSpPr>
          <p:cNvPr name="TextBox 51" id="51"/>
          <p:cNvSpPr txBox="true"/>
          <p:nvPr/>
        </p:nvSpPr>
        <p:spPr>
          <a:xfrm rot="0">
            <a:off x="5207883" y="2395689"/>
            <a:ext cx="3029240" cy="28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1"/>
              </a:lnSpc>
              <a:spcBef>
                <a:spcPct val="0"/>
              </a:spcBef>
            </a:pPr>
            <a:r>
              <a:rPr lang="en-US" b="true" sz="1699" spc="-8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 Field Officer Mobile App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281166" y="2937889"/>
            <a:ext cx="2846042" cy="2559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349" indent="-164674" lvl="1">
              <a:lnSpc>
                <a:spcPts val="2074"/>
              </a:lnSpc>
              <a:buFont typeface="Arial"/>
              <a:buChar char="•"/>
            </a:pPr>
            <a:r>
              <a:rPr lang="en-US" sz="1525" spc="-7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Ass</a:t>
            </a:r>
            <a:r>
              <a:rPr lang="en-US" sz="1525" spc="-7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igned project verification</a:t>
            </a:r>
          </a:p>
          <a:p>
            <a:pPr algn="l" marL="329349" indent="-164674" lvl="1">
              <a:lnSpc>
                <a:spcPts val="2073"/>
              </a:lnSpc>
              <a:buFont typeface="Arial"/>
              <a:buChar char="•"/>
            </a:pPr>
            <a:r>
              <a:rPr lang="en-US" sz="1525" spc="-7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GPS-based site verification</a:t>
            </a:r>
          </a:p>
          <a:p>
            <a:pPr algn="l" marL="329349" indent="-164674" lvl="1">
              <a:lnSpc>
                <a:spcPts val="2074"/>
              </a:lnSpc>
              <a:buFont typeface="Arial"/>
              <a:buChar char="•"/>
            </a:pPr>
            <a:r>
              <a:rPr lang="en-US" sz="1525" spc="-7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Physical progress recording</a:t>
            </a:r>
          </a:p>
          <a:p>
            <a:pPr algn="l" marL="329349" indent="-164674" lvl="1">
              <a:lnSpc>
                <a:spcPts val="2073"/>
              </a:lnSpc>
              <a:buFont typeface="Arial"/>
              <a:buChar char="•"/>
            </a:pPr>
            <a:r>
              <a:rPr lang="en-US" sz="1525" spc="-7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Geo-tagged photos.</a:t>
            </a:r>
          </a:p>
          <a:p>
            <a:pPr algn="l" marL="329349" indent="-164674" lvl="1">
              <a:lnSpc>
                <a:spcPts val="2074"/>
              </a:lnSpc>
              <a:buFont typeface="Arial"/>
              <a:buChar char="•"/>
            </a:pPr>
            <a:r>
              <a:rPr lang="en-US" sz="1525" spc="-7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Officer remarks &amp; observations</a:t>
            </a:r>
          </a:p>
          <a:p>
            <a:pPr algn="l" marL="329349" indent="-164674" lvl="1">
              <a:lnSpc>
                <a:spcPts val="2074"/>
              </a:lnSpc>
              <a:buFont typeface="Arial"/>
              <a:buChar char="•"/>
            </a:pPr>
            <a:r>
              <a:rPr lang="en-US" sz="1525" spc="-7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Configurable evidence-photo count per inspection</a:t>
            </a:r>
          </a:p>
          <a:p>
            <a:pPr algn="l">
              <a:lnSpc>
                <a:spcPts val="2073"/>
              </a:lnSpc>
            </a:pPr>
          </a:p>
          <a:p>
            <a:pPr algn="l">
              <a:lnSpc>
                <a:spcPts val="2074"/>
              </a:lnSpc>
            </a:pPr>
          </a:p>
        </p:txBody>
      </p:sp>
      <p:sp>
        <p:nvSpPr>
          <p:cNvPr name="TextBox 53" id="53"/>
          <p:cNvSpPr txBox="true"/>
          <p:nvPr/>
        </p:nvSpPr>
        <p:spPr>
          <a:xfrm rot="0">
            <a:off x="412528" y="5007400"/>
            <a:ext cx="4073775" cy="69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9"/>
              </a:lnSpc>
              <a:spcBef>
                <a:spcPct val="0"/>
              </a:spcBef>
            </a:pPr>
            <a:r>
              <a:rPr lang="en-US" b="true" sz="1999" spc="-10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Trusted Evidence &amp; Audit Layer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12528" y="5824112"/>
            <a:ext cx="4026706" cy="309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7" indent="-215899" lvl="1">
              <a:lnSpc>
                <a:spcPts val="2719"/>
              </a:lnSpc>
              <a:buFont typeface="Arial"/>
              <a:buChar char="•"/>
            </a:pPr>
            <a:r>
              <a:rPr lang="en-US" sz="1999" spc="-1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IPFS-based evidence storage</a:t>
            </a:r>
          </a:p>
          <a:p>
            <a:pPr algn="l" marL="431797" indent="-215899" lvl="1">
              <a:lnSpc>
                <a:spcPts val="2719"/>
              </a:lnSpc>
              <a:buFont typeface="Arial"/>
              <a:buChar char="•"/>
            </a:pPr>
            <a:r>
              <a:rPr lang="en-US" sz="1999" spc="-1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Permissioned Hyperledger Fabric ledger</a:t>
            </a:r>
          </a:p>
          <a:p>
            <a:pPr algn="l" marL="431797" indent="-215899" lvl="1">
              <a:lnSpc>
                <a:spcPts val="2719"/>
              </a:lnSpc>
              <a:buFont typeface="Arial"/>
              <a:buChar char="•"/>
            </a:pPr>
            <a:r>
              <a:rPr lang="en-US" sz="1999" spc="-1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Important project event recording</a:t>
            </a:r>
          </a:p>
          <a:p>
            <a:pPr algn="l" marL="431797" indent="-215899" lvl="1">
              <a:lnSpc>
                <a:spcPts val="2719"/>
              </a:lnSpc>
              <a:buFont typeface="Arial"/>
              <a:buChar char="•"/>
            </a:pPr>
            <a:r>
              <a:rPr lang="en-US" sz="1999" spc="-1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Role-based approvals</a:t>
            </a:r>
          </a:p>
          <a:p>
            <a:pPr algn="l" marL="431797" indent="-215899" lvl="1">
              <a:lnSpc>
                <a:spcPts val="2719"/>
              </a:lnSpc>
              <a:buFont typeface="Arial"/>
              <a:buChar char="•"/>
            </a:pPr>
            <a:r>
              <a:rPr lang="en-US" sz="1999" spc="-1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Tamper-evident audit history</a:t>
            </a:r>
          </a:p>
          <a:p>
            <a:pPr algn="l" marL="431797" indent="-215899" lvl="1">
              <a:lnSpc>
                <a:spcPts val="2719"/>
              </a:lnSpc>
              <a:buFont typeface="Arial"/>
              <a:buChar char="•"/>
            </a:pPr>
            <a:r>
              <a:rPr lang="en-US" sz="1999" spc="-1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Ledger-backed integrity verification</a:t>
            </a:r>
          </a:p>
          <a:p>
            <a:pPr algn="l" marL="431797" indent="-215899" lvl="1">
              <a:lnSpc>
                <a:spcPts val="2719"/>
              </a:lnSpc>
              <a:buFont typeface="Arial"/>
              <a:buChar char="•"/>
            </a:pPr>
            <a:r>
              <a:rPr lang="en-US" sz="1999" spc="-1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Live IPFS/Pinata evidence retrieval in the audit trail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771733" y="5606958"/>
            <a:ext cx="3355475" cy="69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9"/>
              </a:lnSpc>
              <a:spcBef>
                <a:spcPct val="0"/>
              </a:spcBef>
            </a:pPr>
            <a:r>
              <a:rPr lang="en-US" b="true" sz="1999" spc="-10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 Citizen Transparency Portal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960986" y="6412471"/>
            <a:ext cx="3013276" cy="2228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0007" indent="-155004" lvl="1">
              <a:lnSpc>
                <a:spcPts val="1952"/>
              </a:lnSpc>
              <a:buFont typeface="Arial"/>
              <a:buChar char="•"/>
            </a:pPr>
            <a:r>
              <a:rPr lang="en-US" sz="1435" spc="-7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Search MPLADS projects</a:t>
            </a:r>
          </a:p>
          <a:p>
            <a:pPr algn="l" marL="310007" indent="-155004" lvl="1">
              <a:lnSpc>
                <a:spcPts val="1952"/>
              </a:lnSpc>
              <a:buFont typeface="Arial"/>
              <a:buChar char="•"/>
            </a:pPr>
            <a:r>
              <a:rPr lang="en-US" sz="1435" spc="-7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View public project information</a:t>
            </a:r>
          </a:p>
          <a:p>
            <a:pPr algn="l" marL="310007" indent="-155004" lvl="1">
              <a:lnSpc>
                <a:spcPts val="1952"/>
              </a:lnSpc>
              <a:buFont typeface="Arial"/>
              <a:buChar char="•"/>
            </a:pPr>
            <a:r>
              <a:rPr lang="en-US" sz="1435" spc="-7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View project status &amp; progress</a:t>
            </a:r>
          </a:p>
          <a:p>
            <a:pPr algn="l" marL="310007" indent="-155004" lvl="1">
              <a:lnSpc>
                <a:spcPts val="1952"/>
              </a:lnSpc>
              <a:buFont typeface="Arial"/>
              <a:buChar char="•"/>
            </a:pPr>
            <a:r>
              <a:rPr lang="en-US" sz="1435" spc="-7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View sanctioned/expenditure information</a:t>
            </a:r>
          </a:p>
          <a:p>
            <a:pPr algn="l" marL="310007" indent="-155004" lvl="1">
              <a:lnSpc>
                <a:spcPts val="1952"/>
              </a:lnSpc>
              <a:buFont typeface="Arial"/>
              <a:buChar char="•"/>
            </a:pPr>
            <a:r>
              <a:rPr lang="en-US" sz="1435" spc="-7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Public record integrity verification</a:t>
            </a:r>
          </a:p>
          <a:p>
            <a:pPr algn="l" marL="310007" indent="-155004" lvl="1">
              <a:lnSpc>
                <a:spcPts val="1952"/>
              </a:lnSpc>
              <a:buFont typeface="Arial"/>
              <a:buChar char="•"/>
            </a:pPr>
            <a:r>
              <a:rPr lang="en-US" sz="1435" spc="-7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View permitted project history</a:t>
            </a:r>
          </a:p>
          <a:p>
            <a:pPr algn="l" marL="310007" indent="-155004" lvl="1">
              <a:lnSpc>
                <a:spcPts val="1952"/>
              </a:lnSpc>
              <a:buFont typeface="Arial"/>
              <a:buChar char="•"/>
            </a:pPr>
            <a:r>
              <a:rPr lang="en-US" sz="1435" spc="-7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Submit grievances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35296" y="7245258"/>
            <a:ext cx="4836987" cy="186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3755" indent="-171878" lvl="1">
              <a:lnSpc>
                <a:spcPts val="2164"/>
              </a:lnSpc>
              <a:buFont typeface="Arial"/>
              <a:buChar char="•"/>
            </a:pPr>
            <a:r>
              <a:rPr lang="en-US" sz="1592" spc="-8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Detects financial &amp; project anomalies using AI</a:t>
            </a:r>
          </a:p>
          <a:p>
            <a:pPr algn="l" marL="343755" indent="-171878" lvl="1">
              <a:lnSpc>
                <a:spcPts val="2164"/>
              </a:lnSpc>
              <a:buFont typeface="Arial"/>
              <a:buChar char="•"/>
            </a:pPr>
            <a:r>
              <a:rPr lang="en-US" sz="1592" spc="-8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Identifies high-risk projects for timely action</a:t>
            </a:r>
          </a:p>
          <a:p>
            <a:pPr algn="l" marL="343755" indent="-171878" lvl="1">
              <a:lnSpc>
                <a:spcPts val="2164"/>
              </a:lnSpc>
              <a:buFont typeface="Arial"/>
              <a:buChar char="•"/>
            </a:pPr>
            <a:r>
              <a:rPr lang="en-US" sz="1592" spc="-8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Enables ground-level progress verification</a:t>
            </a:r>
          </a:p>
          <a:p>
            <a:pPr algn="l" marL="343755" indent="-171878" lvl="1">
              <a:lnSpc>
                <a:spcPts val="2164"/>
              </a:lnSpc>
              <a:buFont typeface="Arial"/>
              <a:buChar char="•"/>
            </a:pPr>
            <a:r>
              <a:rPr lang="en-US" sz="1592" spc="-8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Reduces manual monitoring effort</a:t>
            </a:r>
          </a:p>
          <a:p>
            <a:pPr algn="l" marL="343755" indent="-171878" lvl="1">
              <a:lnSpc>
                <a:spcPts val="2164"/>
              </a:lnSpc>
              <a:buFont typeface="Arial"/>
              <a:buChar char="•"/>
            </a:pPr>
            <a:r>
              <a:rPr lang="en-US" sz="1592" spc="-8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Ensures tamper-evident project records</a:t>
            </a:r>
          </a:p>
          <a:p>
            <a:pPr algn="l" marL="343755" indent="-171878" lvl="1">
              <a:lnSpc>
                <a:spcPts val="2164"/>
              </a:lnSpc>
              <a:buFont typeface="Arial"/>
              <a:buChar char="•"/>
            </a:pPr>
            <a:r>
              <a:rPr lang="en-US" sz="1592" spc="-8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Strengthens accountability across authorities</a:t>
            </a:r>
          </a:p>
          <a:p>
            <a:pPr algn="l" marL="343755" indent="-171878" lvl="1">
              <a:lnSpc>
                <a:spcPts val="2164"/>
              </a:lnSpc>
              <a:buFont typeface="Arial"/>
              <a:buChar char="•"/>
            </a:pPr>
            <a:r>
              <a:rPr lang="en-US" sz="1592" spc="-8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Improves transparency for citizens</a:t>
            </a:r>
          </a:p>
          <a:p>
            <a:pPr algn="l" marL="343755" indent="-171878" lvl="1">
              <a:lnSpc>
                <a:spcPts val="2164"/>
              </a:lnSpc>
              <a:buFont typeface="Arial"/>
              <a:buChar char="•"/>
            </a:pPr>
            <a:r>
              <a:rPr lang="en-US" sz="1592" spc="-8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Answers instant queries through a grounded AI assistant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Team MetaMinds_404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554516" cy="170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</a:t>
              </a: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etaMinds_404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26163" y="1658287"/>
            <a:ext cx="6908909" cy="7543800"/>
            <a:chOff x="0" y="0"/>
            <a:chExt cx="1819630" cy="19868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19630" cy="1986844"/>
            </a:xfrm>
            <a:custGeom>
              <a:avLst/>
              <a:gdLst/>
              <a:ahLst/>
              <a:cxnLst/>
              <a:rect r="r" b="b" t="t" l="l"/>
              <a:pathLst>
                <a:path h="1986844" w="1819630">
                  <a:moveTo>
                    <a:pt x="57149" y="0"/>
                  </a:moveTo>
                  <a:lnTo>
                    <a:pt x="1762481" y="0"/>
                  </a:lnTo>
                  <a:cubicBezTo>
                    <a:pt x="1777638" y="0"/>
                    <a:pt x="1792174" y="6021"/>
                    <a:pt x="1802892" y="16739"/>
                  </a:cubicBezTo>
                  <a:cubicBezTo>
                    <a:pt x="1813609" y="27456"/>
                    <a:pt x="1819630" y="41992"/>
                    <a:pt x="1819630" y="57149"/>
                  </a:cubicBezTo>
                  <a:lnTo>
                    <a:pt x="1819630" y="1929695"/>
                  </a:lnTo>
                  <a:cubicBezTo>
                    <a:pt x="1819630" y="1944852"/>
                    <a:pt x="1813609" y="1959388"/>
                    <a:pt x="1802892" y="1970106"/>
                  </a:cubicBezTo>
                  <a:cubicBezTo>
                    <a:pt x="1792174" y="1980823"/>
                    <a:pt x="1777638" y="1986844"/>
                    <a:pt x="1762481" y="1986844"/>
                  </a:cubicBezTo>
                  <a:lnTo>
                    <a:pt x="57149" y="1986844"/>
                  </a:lnTo>
                  <a:cubicBezTo>
                    <a:pt x="41992" y="1986844"/>
                    <a:pt x="27456" y="1980823"/>
                    <a:pt x="16739" y="1970106"/>
                  </a:cubicBezTo>
                  <a:cubicBezTo>
                    <a:pt x="6021" y="1959388"/>
                    <a:pt x="0" y="1944852"/>
                    <a:pt x="0" y="1929695"/>
                  </a:cubicBezTo>
                  <a:lnTo>
                    <a:pt x="0" y="57149"/>
                  </a:lnTo>
                  <a:cubicBezTo>
                    <a:pt x="0" y="41992"/>
                    <a:pt x="6021" y="27456"/>
                    <a:pt x="16739" y="16739"/>
                  </a:cubicBezTo>
                  <a:cubicBezTo>
                    <a:pt x="27456" y="6021"/>
                    <a:pt x="41992" y="0"/>
                    <a:pt x="57149" y="0"/>
                  </a:cubicBezTo>
                  <a:close/>
                </a:path>
              </a:pathLst>
            </a:custGeom>
            <a:solidFill>
              <a:srgbClr val="FDFCF9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819630" cy="2034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550911" y="1643062"/>
            <a:ext cx="10493992" cy="7543800"/>
            <a:chOff x="0" y="0"/>
            <a:chExt cx="2763850" cy="19868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63850" cy="1986844"/>
            </a:xfrm>
            <a:custGeom>
              <a:avLst/>
              <a:gdLst/>
              <a:ahLst/>
              <a:cxnLst/>
              <a:rect r="r" b="b" t="t" l="l"/>
              <a:pathLst>
                <a:path h="1986844" w="2763850">
                  <a:moveTo>
                    <a:pt x="37625" y="0"/>
                  </a:moveTo>
                  <a:lnTo>
                    <a:pt x="2726225" y="0"/>
                  </a:lnTo>
                  <a:cubicBezTo>
                    <a:pt x="2747005" y="0"/>
                    <a:pt x="2763850" y="16845"/>
                    <a:pt x="2763850" y="37625"/>
                  </a:cubicBezTo>
                  <a:lnTo>
                    <a:pt x="2763850" y="1949219"/>
                  </a:lnTo>
                  <a:cubicBezTo>
                    <a:pt x="2763850" y="1959198"/>
                    <a:pt x="2759886" y="1968768"/>
                    <a:pt x="2752830" y="1975824"/>
                  </a:cubicBezTo>
                  <a:cubicBezTo>
                    <a:pt x="2745774" y="1982880"/>
                    <a:pt x="2736204" y="1986844"/>
                    <a:pt x="2726225" y="1986844"/>
                  </a:cubicBezTo>
                  <a:lnTo>
                    <a:pt x="37625" y="1986844"/>
                  </a:lnTo>
                  <a:cubicBezTo>
                    <a:pt x="16845" y="1986844"/>
                    <a:pt x="0" y="1969999"/>
                    <a:pt x="0" y="1949219"/>
                  </a:cubicBezTo>
                  <a:lnTo>
                    <a:pt x="0" y="37625"/>
                  </a:lnTo>
                  <a:cubicBezTo>
                    <a:pt x="0" y="16845"/>
                    <a:pt x="16845" y="0"/>
                    <a:pt x="37625" y="0"/>
                  </a:cubicBezTo>
                  <a:close/>
                </a:path>
              </a:pathLst>
            </a:custGeom>
            <a:solidFill>
              <a:srgbClr val="FDFCF9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2763850" cy="2034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9"/>
                </a:lnSpc>
              </a:pPr>
            </a:p>
          </p:txBody>
        </p:sp>
      </p:grpSp>
      <p:sp>
        <p:nvSpPr>
          <p:cNvPr name="AutoShape 24" id="24"/>
          <p:cNvSpPr/>
          <p:nvPr/>
        </p:nvSpPr>
        <p:spPr>
          <a:xfrm>
            <a:off x="326163" y="2421004"/>
            <a:ext cx="690890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V="true">
            <a:off x="7550911" y="2421004"/>
            <a:ext cx="10395095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1433555" y="2440054"/>
            <a:ext cx="4404484" cy="6610823"/>
          </a:xfrm>
          <a:custGeom>
            <a:avLst/>
            <a:gdLst/>
            <a:ahLst/>
            <a:cxnLst/>
            <a:rect r="r" b="b" t="t" l="l"/>
            <a:pathLst>
              <a:path h="6610823" w="4404484">
                <a:moveTo>
                  <a:pt x="0" y="0"/>
                </a:moveTo>
                <a:lnTo>
                  <a:pt x="4404485" y="0"/>
                </a:lnTo>
                <a:lnTo>
                  <a:pt x="4404485" y="6610823"/>
                </a:lnTo>
                <a:lnTo>
                  <a:pt x="0" y="66108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421" t="-6776" r="-11527" b="-15096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734302" y="2744321"/>
            <a:ext cx="9987322" cy="6133193"/>
          </a:xfrm>
          <a:custGeom>
            <a:avLst/>
            <a:gdLst/>
            <a:ahLst/>
            <a:cxnLst/>
            <a:rect r="r" b="b" t="t" l="l"/>
            <a:pathLst>
              <a:path h="6133193" w="9987322">
                <a:moveTo>
                  <a:pt x="0" y="0"/>
                </a:moveTo>
                <a:lnTo>
                  <a:pt x="9987322" y="0"/>
                </a:lnTo>
                <a:lnTo>
                  <a:pt x="9987322" y="6133192"/>
                </a:lnTo>
                <a:lnTo>
                  <a:pt x="0" y="61331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91" t="-8308" r="-1159" b="-3021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0" y="1657350"/>
            <a:ext cx="6908909" cy="510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8"/>
              </a:lnSpc>
              <a:spcBef>
                <a:spcPct val="0"/>
              </a:spcBef>
            </a:pPr>
            <a:r>
              <a:rPr lang="en-US" b="true" sz="2999" spc="-15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TECHNOLOGIES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550911" y="1715918"/>
            <a:ext cx="10493992" cy="493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2"/>
              </a:lnSpc>
              <a:spcBef>
                <a:spcPct val="0"/>
              </a:spcBef>
            </a:pPr>
            <a:r>
              <a:rPr lang="en-US" b="true" sz="2899" spc="-15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PROPOSED ARCHITECTURE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5641002" y="7279005"/>
            <a:ext cx="1440180" cy="424815"/>
            <a:chOff x="0" y="0"/>
            <a:chExt cx="1920240" cy="5664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50800" y="50655"/>
              <a:ext cx="1818873" cy="468941"/>
            </a:xfrm>
            <a:custGeom>
              <a:avLst/>
              <a:gdLst/>
              <a:ahLst/>
              <a:cxnLst/>
              <a:rect r="r" b="b" t="t" l="l"/>
              <a:pathLst>
                <a:path h="468941" w="1818873">
                  <a:moveTo>
                    <a:pt x="1802130" y="302405"/>
                  </a:moveTo>
                  <a:cubicBezTo>
                    <a:pt x="998220" y="200805"/>
                    <a:pt x="864870" y="169055"/>
                    <a:pt x="749300" y="153815"/>
                  </a:cubicBezTo>
                  <a:cubicBezTo>
                    <a:pt x="661670" y="141115"/>
                    <a:pt x="607060" y="144925"/>
                    <a:pt x="515620" y="132225"/>
                  </a:cubicBezTo>
                  <a:cubicBezTo>
                    <a:pt x="383540" y="113175"/>
                    <a:pt x="39370" y="25545"/>
                    <a:pt x="34290" y="36975"/>
                  </a:cubicBezTo>
                  <a:cubicBezTo>
                    <a:pt x="33020" y="39515"/>
                    <a:pt x="48260" y="43325"/>
                    <a:pt x="55880" y="52215"/>
                  </a:cubicBezTo>
                  <a:cubicBezTo>
                    <a:pt x="72390" y="69995"/>
                    <a:pt x="95250" y="109365"/>
                    <a:pt x="110490" y="148735"/>
                  </a:cubicBezTo>
                  <a:cubicBezTo>
                    <a:pt x="132080" y="199535"/>
                    <a:pt x="137160" y="290975"/>
                    <a:pt x="161290" y="336695"/>
                  </a:cubicBezTo>
                  <a:cubicBezTo>
                    <a:pt x="177800" y="368445"/>
                    <a:pt x="199390" y="395115"/>
                    <a:pt x="219710" y="409085"/>
                  </a:cubicBezTo>
                  <a:cubicBezTo>
                    <a:pt x="237490" y="419245"/>
                    <a:pt x="250190" y="421785"/>
                    <a:pt x="273050" y="424325"/>
                  </a:cubicBezTo>
                  <a:cubicBezTo>
                    <a:pt x="318770" y="430675"/>
                    <a:pt x="477520" y="419245"/>
                    <a:pt x="477520" y="416705"/>
                  </a:cubicBezTo>
                  <a:cubicBezTo>
                    <a:pt x="477520" y="415435"/>
                    <a:pt x="219710" y="429405"/>
                    <a:pt x="184150" y="410355"/>
                  </a:cubicBezTo>
                  <a:cubicBezTo>
                    <a:pt x="173990" y="405275"/>
                    <a:pt x="168910" y="396385"/>
                    <a:pt x="170180" y="390035"/>
                  </a:cubicBezTo>
                  <a:cubicBezTo>
                    <a:pt x="170180" y="383685"/>
                    <a:pt x="175260" y="377335"/>
                    <a:pt x="184150" y="373525"/>
                  </a:cubicBezTo>
                  <a:cubicBezTo>
                    <a:pt x="217170" y="358285"/>
                    <a:pt x="356870" y="378605"/>
                    <a:pt x="453390" y="374795"/>
                  </a:cubicBezTo>
                  <a:cubicBezTo>
                    <a:pt x="565150" y="369715"/>
                    <a:pt x="697230" y="355745"/>
                    <a:pt x="816610" y="339235"/>
                  </a:cubicBezTo>
                  <a:cubicBezTo>
                    <a:pt x="937260" y="322725"/>
                    <a:pt x="1094740" y="298595"/>
                    <a:pt x="1174750" y="273195"/>
                  </a:cubicBezTo>
                  <a:cubicBezTo>
                    <a:pt x="1217930" y="260495"/>
                    <a:pt x="1271270" y="237635"/>
                    <a:pt x="1270000" y="231285"/>
                  </a:cubicBezTo>
                  <a:cubicBezTo>
                    <a:pt x="1268730" y="224935"/>
                    <a:pt x="1207770" y="236365"/>
                    <a:pt x="1193800" y="227475"/>
                  </a:cubicBezTo>
                  <a:cubicBezTo>
                    <a:pt x="1186180" y="223665"/>
                    <a:pt x="1181100" y="216045"/>
                    <a:pt x="1182370" y="209695"/>
                  </a:cubicBezTo>
                  <a:cubicBezTo>
                    <a:pt x="1182370" y="204615"/>
                    <a:pt x="1189990" y="194455"/>
                    <a:pt x="1196340" y="193185"/>
                  </a:cubicBezTo>
                  <a:cubicBezTo>
                    <a:pt x="1202690" y="193185"/>
                    <a:pt x="1216660" y="202075"/>
                    <a:pt x="1217930" y="208425"/>
                  </a:cubicBezTo>
                  <a:cubicBezTo>
                    <a:pt x="1217930" y="214775"/>
                    <a:pt x="1202690" y="228745"/>
                    <a:pt x="1196340" y="228745"/>
                  </a:cubicBezTo>
                  <a:cubicBezTo>
                    <a:pt x="1189990" y="228745"/>
                    <a:pt x="1182370" y="217315"/>
                    <a:pt x="1182370" y="212235"/>
                  </a:cubicBezTo>
                  <a:cubicBezTo>
                    <a:pt x="1182370" y="205885"/>
                    <a:pt x="1189990" y="196995"/>
                    <a:pt x="1200150" y="193185"/>
                  </a:cubicBezTo>
                  <a:cubicBezTo>
                    <a:pt x="1216660" y="186835"/>
                    <a:pt x="1262380" y="190645"/>
                    <a:pt x="1280160" y="198265"/>
                  </a:cubicBezTo>
                  <a:cubicBezTo>
                    <a:pt x="1291590" y="203345"/>
                    <a:pt x="1300480" y="212235"/>
                    <a:pt x="1303020" y="222395"/>
                  </a:cubicBezTo>
                  <a:cubicBezTo>
                    <a:pt x="1304290" y="232555"/>
                    <a:pt x="1296670" y="246525"/>
                    <a:pt x="1285240" y="256685"/>
                  </a:cubicBezTo>
                  <a:cubicBezTo>
                    <a:pt x="1262380" y="279545"/>
                    <a:pt x="1201420" y="298595"/>
                    <a:pt x="1143000" y="315105"/>
                  </a:cubicBezTo>
                  <a:cubicBezTo>
                    <a:pt x="1057910" y="339235"/>
                    <a:pt x="932180" y="354475"/>
                    <a:pt x="820420" y="369715"/>
                  </a:cubicBezTo>
                  <a:cubicBezTo>
                    <a:pt x="702310" y="386225"/>
                    <a:pt x="563880" y="400195"/>
                    <a:pt x="454660" y="406545"/>
                  </a:cubicBezTo>
                  <a:cubicBezTo>
                    <a:pt x="365760" y="412895"/>
                    <a:pt x="261620" y="420515"/>
                    <a:pt x="214630" y="414165"/>
                  </a:cubicBezTo>
                  <a:cubicBezTo>
                    <a:pt x="194310" y="412895"/>
                    <a:pt x="179070" y="410355"/>
                    <a:pt x="172720" y="402735"/>
                  </a:cubicBezTo>
                  <a:cubicBezTo>
                    <a:pt x="168910" y="398925"/>
                    <a:pt x="168910" y="390035"/>
                    <a:pt x="170180" y="384955"/>
                  </a:cubicBezTo>
                  <a:cubicBezTo>
                    <a:pt x="172720" y="378605"/>
                    <a:pt x="179070" y="373525"/>
                    <a:pt x="189230" y="369715"/>
                  </a:cubicBezTo>
                  <a:cubicBezTo>
                    <a:pt x="223520" y="357015"/>
                    <a:pt x="369570" y="365905"/>
                    <a:pt x="425450" y="368445"/>
                  </a:cubicBezTo>
                  <a:cubicBezTo>
                    <a:pt x="455930" y="369715"/>
                    <a:pt x="480060" y="370985"/>
                    <a:pt x="496570" y="377335"/>
                  </a:cubicBezTo>
                  <a:cubicBezTo>
                    <a:pt x="508000" y="381145"/>
                    <a:pt x="519430" y="386225"/>
                    <a:pt x="523240" y="393845"/>
                  </a:cubicBezTo>
                  <a:cubicBezTo>
                    <a:pt x="527050" y="404005"/>
                    <a:pt x="521970" y="425595"/>
                    <a:pt x="515620" y="435755"/>
                  </a:cubicBezTo>
                  <a:cubicBezTo>
                    <a:pt x="509270" y="447185"/>
                    <a:pt x="500380" y="453535"/>
                    <a:pt x="483870" y="459885"/>
                  </a:cubicBezTo>
                  <a:cubicBezTo>
                    <a:pt x="445770" y="472585"/>
                    <a:pt x="318770" y="470045"/>
                    <a:pt x="269240" y="463695"/>
                  </a:cubicBezTo>
                  <a:cubicBezTo>
                    <a:pt x="241300" y="459885"/>
                    <a:pt x="226060" y="458615"/>
                    <a:pt x="205740" y="445915"/>
                  </a:cubicBezTo>
                  <a:cubicBezTo>
                    <a:pt x="181610" y="430675"/>
                    <a:pt x="156210" y="402735"/>
                    <a:pt x="135890" y="367175"/>
                  </a:cubicBezTo>
                  <a:cubicBezTo>
                    <a:pt x="107950" y="315105"/>
                    <a:pt x="97790" y="217315"/>
                    <a:pt x="72390" y="157625"/>
                  </a:cubicBezTo>
                  <a:cubicBezTo>
                    <a:pt x="50800" y="110635"/>
                    <a:pt x="1270" y="62375"/>
                    <a:pt x="0" y="35705"/>
                  </a:cubicBezTo>
                  <a:cubicBezTo>
                    <a:pt x="0" y="23005"/>
                    <a:pt x="7620" y="12845"/>
                    <a:pt x="13970" y="6495"/>
                  </a:cubicBezTo>
                  <a:cubicBezTo>
                    <a:pt x="19050" y="1415"/>
                    <a:pt x="22860" y="145"/>
                    <a:pt x="34290" y="145"/>
                  </a:cubicBezTo>
                  <a:cubicBezTo>
                    <a:pt x="88900" y="-3665"/>
                    <a:pt x="317500" y="68725"/>
                    <a:pt x="518160" y="103015"/>
                  </a:cubicBezTo>
                  <a:cubicBezTo>
                    <a:pt x="843280" y="158895"/>
                    <a:pt x="1723390" y="223665"/>
                    <a:pt x="1804670" y="270655"/>
                  </a:cubicBezTo>
                  <a:cubicBezTo>
                    <a:pt x="1816100" y="277005"/>
                    <a:pt x="1819910" y="284625"/>
                    <a:pt x="1818640" y="289705"/>
                  </a:cubicBezTo>
                  <a:cubicBezTo>
                    <a:pt x="1817370" y="294785"/>
                    <a:pt x="1802130" y="302405"/>
                    <a:pt x="1802130" y="302405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5709582" y="7398068"/>
            <a:ext cx="2051685" cy="897255"/>
            <a:chOff x="0" y="0"/>
            <a:chExt cx="2735580" cy="11963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50800" y="49060"/>
              <a:ext cx="2648969" cy="1098534"/>
            </a:xfrm>
            <a:custGeom>
              <a:avLst/>
              <a:gdLst/>
              <a:ahLst/>
              <a:cxnLst/>
              <a:rect r="r" b="b" t="t" l="l"/>
              <a:pathLst>
                <a:path h="1098534" w="2648969">
                  <a:moveTo>
                    <a:pt x="0" y="545300"/>
                  </a:moveTo>
                  <a:cubicBezTo>
                    <a:pt x="261620" y="343370"/>
                    <a:pt x="287020" y="358610"/>
                    <a:pt x="309880" y="335750"/>
                  </a:cubicBezTo>
                  <a:cubicBezTo>
                    <a:pt x="351790" y="292570"/>
                    <a:pt x="334010" y="99530"/>
                    <a:pt x="392430" y="46190"/>
                  </a:cubicBezTo>
                  <a:cubicBezTo>
                    <a:pt x="444500" y="-2070"/>
                    <a:pt x="541020" y="8090"/>
                    <a:pt x="619760" y="1740"/>
                  </a:cubicBezTo>
                  <a:cubicBezTo>
                    <a:pt x="702310" y="-4610"/>
                    <a:pt x="800100" y="8090"/>
                    <a:pt x="875030" y="13170"/>
                  </a:cubicBezTo>
                  <a:cubicBezTo>
                    <a:pt x="933450" y="16980"/>
                    <a:pt x="1008380" y="1740"/>
                    <a:pt x="1028700" y="27140"/>
                  </a:cubicBezTo>
                  <a:cubicBezTo>
                    <a:pt x="1046480" y="47460"/>
                    <a:pt x="1004570" y="112230"/>
                    <a:pt x="1019810" y="128740"/>
                  </a:cubicBezTo>
                  <a:cubicBezTo>
                    <a:pt x="1033780" y="143980"/>
                    <a:pt x="1071880" y="133820"/>
                    <a:pt x="1106170" y="131280"/>
                  </a:cubicBezTo>
                  <a:cubicBezTo>
                    <a:pt x="1158240" y="127470"/>
                    <a:pt x="1224280" y="108420"/>
                    <a:pt x="1303020" y="95720"/>
                  </a:cubicBezTo>
                  <a:cubicBezTo>
                    <a:pt x="1421130" y="77940"/>
                    <a:pt x="1601470" y="47460"/>
                    <a:pt x="1750060" y="34760"/>
                  </a:cubicBezTo>
                  <a:cubicBezTo>
                    <a:pt x="1893570" y="22060"/>
                    <a:pt x="2037080" y="13170"/>
                    <a:pt x="2176780" y="18250"/>
                  </a:cubicBezTo>
                  <a:cubicBezTo>
                    <a:pt x="2311400" y="23330"/>
                    <a:pt x="2498090" y="-7150"/>
                    <a:pt x="2571750" y="60160"/>
                  </a:cubicBezTo>
                  <a:cubicBezTo>
                    <a:pt x="2639060" y="121120"/>
                    <a:pt x="2669540" y="292570"/>
                    <a:pt x="2633980" y="372580"/>
                  </a:cubicBezTo>
                  <a:cubicBezTo>
                    <a:pt x="2597150" y="455130"/>
                    <a:pt x="2432050" y="513550"/>
                    <a:pt x="2349500" y="546570"/>
                  </a:cubicBezTo>
                  <a:cubicBezTo>
                    <a:pt x="2292350" y="570700"/>
                    <a:pt x="2226310" y="546570"/>
                    <a:pt x="2194560" y="582130"/>
                  </a:cubicBezTo>
                  <a:cubicBezTo>
                    <a:pt x="2157730" y="622770"/>
                    <a:pt x="2205990" y="740880"/>
                    <a:pt x="2166620" y="804380"/>
                  </a:cubicBezTo>
                  <a:cubicBezTo>
                    <a:pt x="2118360" y="881850"/>
                    <a:pt x="1991360" y="940270"/>
                    <a:pt x="1892300" y="985990"/>
                  </a:cubicBezTo>
                  <a:cubicBezTo>
                    <a:pt x="1791970" y="1032980"/>
                    <a:pt x="1682750" y="1063460"/>
                    <a:pt x="1568450" y="1082510"/>
                  </a:cubicBezTo>
                  <a:cubicBezTo>
                    <a:pt x="1442720" y="1102830"/>
                    <a:pt x="1286510" y="1099020"/>
                    <a:pt x="1167130" y="1096480"/>
                  </a:cubicBezTo>
                  <a:cubicBezTo>
                    <a:pt x="1070610" y="1093940"/>
                    <a:pt x="1005840" y="1087590"/>
                    <a:pt x="904240" y="1073620"/>
                  </a:cubicBezTo>
                  <a:cubicBezTo>
                    <a:pt x="762000" y="1053300"/>
                    <a:pt x="534670" y="1017740"/>
                    <a:pt x="393700" y="975830"/>
                  </a:cubicBezTo>
                  <a:cubicBezTo>
                    <a:pt x="289560" y="944080"/>
                    <a:pt x="195580" y="931380"/>
                    <a:pt x="130810" y="866610"/>
                  </a:cubicBezTo>
                  <a:cubicBezTo>
                    <a:pt x="59690" y="794220"/>
                    <a:pt x="0" y="545300"/>
                    <a:pt x="0" y="545300"/>
                  </a:cubicBezTo>
                </a:path>
              </a:pathLst>
            </a:custGeom>
            <a:solidFill>
              <a:srgbClr val="FFFFFF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5211425" y="7273290"/>
            <a:ext cx="2687955" cy="1825942"/>
            <a:chOff x="0" y="0"/>
            <a:chExt cx="3583940" cy="243459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50800" y="50800"/>
              <a:ext cx="3482340" cy="2338578"/>
            </a:xfrm>
            <a:custGeom>
              <a:avLst/>
              <a:gdLst/>
              <a:ahLst/>
              <a:cxnLst/>
              <a:rect r="r" b="b" t="t" l="l"/>
              <a:pathLst>
                <a:path h="2338578" w="3482340">
                  <a:moveTo>
                    <a:pt x="0" y="1407160"/>
                  </a:moveTo>
                  <a:cubicBezTo>
                    <a:pt x="3810" y="1372870"/>
                    <a:pt x="0" y="1366520"/>
                    <a:pt x="0" y="1356360"/>
                  </a:cubicBezTo>
                  <a:cubicBezTo>
                    <a:pt x="1270" y="1342390"/>
                    <a:pt x="8890" y="1323340"/>
                    <a:pt x="11430" y="1306830"/>
                  </a:cubicBezTo>
                  <a:cubicBezTo>
                    <a:pt x="13970" y="1290320"/>
                    <a:pt x="12700" y="1270000"/>
                    <a:pt x="16510" y="1256030"/>
                  </a:cubicBezTo>
                  <a:cubicBezTo>
                    <a:pt x="19050" y="1247140"/>
                    <a:pt x="25400" y="1242060"/>
                    <a:pt x="27940" y="1233170"/>
                  </a:cubicBezTo>
                  <a:cubicBezTo>
                    <a:pt x="30480" y="1225550"/>
                    <a:pt x="29210" y="1217930"/>
                    <a:pt x="33020" y="1209040"/>
                  </a:cubicBezTo>
                  <a:cubicBezTo>
                    <a:pt x="38100" y="1196340"/>
                    <a:pt x="50800" y="1179830"/>
                    <a:pt x="59690" y="1165860"/>
                  </a:cubicBezTo>
                  <a:cubicBezTo>
                    <a:pt x="67310" y="1150620"/>
                    <a:pt x="72390" y="1131570"/>
                    <a:pt x="80010" y="1120140"/>
                  </a:cubicBezTo>
                  <a:cubicBezTo>
                    <a:pt x="86360" y="1111250"/>
                    <a:pt x="92710" y="1107440"/>
                    <a:pt x="97790" y="1101090"/>
                  </a:cubicBezTo>
                  <a:cubicBezTo>
                    <a:pt x="102870" y="1094740"/>
                    <a:pt x="104140" y="1087120"/>
                    <a:pt x="110490" y="1079500"/>
                  </a:cubicBezTo>
                  <a:cubicBezTo>
                    <a:pt x="119380" y="1069340"/>
                    <a:pt x="137160" y="1057910"/>
                    <a:pt x="149860" y="1046480"/>
                  </a:cubicBezTo>
                  <a:cubicBezTo>
                    <a:pt x="161290" y="1035050"/>
                    <a:pt x="172720" y="1018540"/>
                    <a:pt x="184150" y="1009650"/>
                  </a:cubicBezTo>
                  <a:cubicBezTo>
                    <a:pt x="191770" y="1004570"/>
                    <a:pt x="199390" y="1003300"/>
                    <a:pt x="207010" y="998220"/>
                  </a:cubicBezTo>
                  <a:cubicBezTo>
                    <a:pt x="213360" y="993140"/>
                    <a:pt x="217170" y="986790"/>
                    <a:pt x="226060" y="981710"/>
                  </a:cubicBezTo>
                  <a:cubicBezTo>
                    <a:pt x="237490" y="974090"/>
                    <a:pt x="257810" y="970280"/>
                    <a:pt x="273050" y="962660"/>
                  </a:cubicBezTo>
                  <a:cubicBezTo>
                    <a:pt x="288290" y="956310"/>
                    <a:pt x="304800" y="943610"/>
                    <a:pt x="317500" y="939800"/>
                  </a:cubicBezTo>
                  <a:cubicBezTo>
                    <a:pt x="326390" y="935990"/>
                    <a:pt x="336550" y="937260"/>
                    <a:pt x="342900" y="934720"/>
                  </a:cubicBezTo>
                  <a:cubicBezTo>
                    <a:pt x="346710" y="934720"/>
                    <a:pt x="350520" y="934720"/>
                    <a:pt x="351790" y="932180"/>
                  </a:cubicBezTo>
                  <a:cubicBezTo>
                    <a:pt x="360680" y="913130"/>
                    <a:pt x="281940" y="745490"/>
                    <a:pt x="292100" y="702310"/>
                  </a:cubicBezTo>
                  <a:cubicBezTo>
                    <a:pt x="297180" y="681990"/>
                    <a:pt x="326390" y="673100"/>
                    <a:pt x="326390" y="662940"/>
                  </a:cubicBezTo>
                  <a:cubicBezTo>
                    <a:pt x="327660" y="657860"/>
                    <a:pt x="321310" y="655320"/>
                    <a:pt x="317500" y="648970"/>
                  </a:cubicBezTo>
                  <a:cubicBezTo>
                    <a:pt x="311150" y="637540"/>
                    <a:pt x="290830" y="603250"/>
                    <a:pt x="290830" y="601980"/>
                  </a:cubicBezTo>
                  <a:cubicBezTo>
                    <a:pt x="290830" y="601980"/>
                    <a:pt x="280670" y="568960"/>
                    <a:pt x="275590" y="551180"/>
                  </a:cubicBezTo>
                  <a:cubicBezTo>
                    <a:pt x="270510" y="534670"/>
                    <a:pt x="260350" y="501650"/>
                    <a:pt x="260350" y="500380"/>
                  </a:cubicBezTo>
                  <a:cubicBezTo>
                    <a:pt x="259080" y="499110"/>
                    <a:pt x="257810" y="464820"/>
                    <a:pt x="256540" y="447040"/>
                  </a:cubicBezTo>
                  <a:cubicBezTo>
                    <a:pt x="256540" y="429260"/>
                    <a:pt x="254000" y="394970"/>
                    <a:pt x="254000" y="393700"/>
                  </a:cubicBezTo>
                  <a:cubicBezTo>
                    <a:pt x="254000" y="392430"/>
                    <a:pt x="261620" y="358140"/>
                    <a:pt x="264160" y="341630"/>
                  </a:cubicBezTo>
                  <a:cubicBezTo>
                    <a:pt x="267970" y="323850"/>
                    <a:pt x="274320" y="289560"/>
                    <a:pt x="274320" y="288290"/>
                  </a:cubicBezTo>
                  <a:cubicBezTo>
                    <a:pt x="274320" y="288290"/>
                    <a:pt x="289560" y="256540"/>
                    <a:pt x="297180" y="240030"/>
                  </a:cubicBezTo>
                  <a:cubicBezTo>
                    <a:pt x="304800" y="223520"/>
                    <a:pt x="318770" y="191770"/>
                    <a:pt x="318770" y="191770"/>
                  </a:cubicBezTo>
                  <a:cubicBezTo>
                    <a:pt x="320040" y="190500"/>
                    <a:pt x="341630" y="163830"/>
                    <a:pt x="353060" y="149860"/>
                  </a:cubicBezTo>
                  <a:cubicBezTo>
                    <a:pt x="363220" y="135890"/>
                    <a:pt x="384810" y="109220"/>
                    <a:pt x="386080" y="107950"/>
                  </a:cubicBezTo>
                  <a:cubicBezTo>
                    <a:pt x="386080" y="107950"/>
                    <a:pt x="414020" y="86360"/>
                    <a:pt x="427990" y="74930"/>
                  </a:cubicBezTo>
                  <a:cubicBezTo>
                    <a:pt x="441960" y="64770"/>
                    <a:pt x="469900" y="43180"/>
                    <a:pt x="469900" y="43180"/>
                  </a:cubicBezTo>
                  <a:cubicBezTo>
                    <a:pt x="471170" y="43180"/>
                    <a:pt x="502920" y="29210"/>
                    <a:pt x="519430" y="21590"/>
                  </a:cubicBezTo>
                  <a:cubicBezTo>
                    <a:pt x="535940" y="13970"/>
                    <a:pt x="567690" y="0"/>
                    <a:pt x="567690" y="0"/>
                  </a:cubicBezTo>
                  <a:cubicBezTo>
                    <a:pt x="570230" y="0"/>
                    <a:pt x="848360" y="30480"/>
                    <a:pt x="986790" y="40640"/>
                  </a:cubicBezTo>
                  <a:cubicBezTo>
                    <a:pt x="1120140" y="49530"/>
                    <a:pt x="1249680" y="53340"/>
                    <a:pt x="1383030" y="55880"/>
                  </a:cubicBezTo>
                  <a:cubicBezTo>
                    <a:pt x="1521460" y="58420"/>
                    <a:pt x="1663700" y="55880"/>
                    <a:pt x="1803400" y="52070"/>
                  </a:cubicBezTo>
                  <a:cubicBezTo>
                    <a:pt x="1941830" y="49530"/>
                    <a:pt x="2080260" y="38100"/>
                    <a:pt x="2216150" y="35560"/>
                  </a:cubicBezTo>
                  <a:cubicBezTo>
                    <a:pt x="2346960" y="31750"/>
                    <a:pt x="2471420" y="25400"/>
                    <a:pt x="2602230" y="33020"/>
                  </a:cubicBezTo>
                  <a:cubicBezTo>
                    <a:pt x="2739390" y="39370"/>
                    <a:pt x="2896870" y="22860"/>
                    <a:pt x="3021330" y="78740"/>
                  </a:cubicBezTo>
                  <a:cubicBezTo>
                    <a:pt x="3153410" y="137160"/>
                    <a:pt x="3307080" y="266700"/>
                    <a:pt x="3365500" y="389890"/>
                  </a:cubicBezTo>
                  <a:cubicBezTo>
                    <a:pt x="3418840" y="501650"/>
                    <a:pt x="3382010" y="645160"/>
                    <a:pt x="3385820" y="773430"/>
                  </a:cubicBezTo>
                  <a:cubicBezTo>
                    <a:pt x="3389630" y="902970"/>
                    <a:pt x="3387090" y="1042670"/>
                    <a:pt x="3387090" y="1165860"/>
                  </a:cubicBezTo>
                  <a:cubicBezTo>
                    <a:pt x="3388360" y="1275080"/>
                    <a:pt x="3376930" y="1437640"/>
                    <a:pt x="3388360" y="1474470"/>
                  </a:cubicBezTo>
                  <a:cubicBezTo>
                    <a:pt x="3390900" y="1482090"/>
                    <a:pt x="3394710" y="1482090"/>
                    <a:pt x="3398520" y="1488440"/>
                  </a:cubicBezTo>
                  <a:cubicBezTo>
                    <a:pt x="3406140" y="1499870"/>
                    <a:pt x="3430270" y="1534160"/>
                    <a:pt x="3430270" y="1534160"/>
                  </a:cubicBezTo>
                  <a:cubicBezTo>
                    <a:pt x="3430270" y="1535430"/>
                    <a:pt x="3442970" y="1569720"/>
                    <a:pt x="3449320" y="1587500"/>
                  </a:cubicBezTo>
                  <a:cubicBezTo>
                    <a:pt x="3456940" y="1604010"/>
                    <a:pt x="3469640" y="1638300"/>
                    <a:pt x="3469640" y="1639570"/>
                  </a:cubicBezTo>
                  <a:cubicBezTo>
                    <a:pt x="3469640" y="1639570"/>
                    <a:pt x="3473450" y="1676400"/>
                    <a:pt x="3475990" y="1695450"/>
                  </a:cubicBezTo>
                  <a:cubicBezTo>
                    <a:pt x="3478530" y="1713230"/>
                    <a:pt x="3482340" y="1750060"/>
                    <a:pt x="3482340" y="1750060"/>
                  </a:cubicBezTo>
                  <a:cubicBezTo>
                    <a:pt x="3482340" y="1751330"/>
                    <a:pt x="3478530" y="1786890"/>
                    <a:pt x="3475990" y="1805940"/>
                  </a:cubicBezTo>
                  <a:cubicBezTo>
                    <a:pt x="3473450" y="1824990"/>
                    <a:pt x="3468370" y="1860550"/>
                    <a:pt x="3468370" y="1861820"/>
                  </a:cubicBezTo>
                  <a:cubicBezTo>
                    <a:pt x="3468370" y="1861820"/>
                    <a:pt x="3453130" y="1901190"/>
                    <a:pt x="3448050" y="1913890"/>
                  </a:cubicBezTo>
                  <a:cubicBezTo>
                    <a:pt x="3445510" y="1921510"/>
                    <a:pt x="3441700" y="1931670"/>
                    <a:pt x="3441700" y="1932940"/>
                  </a:cubicBezTo>
                  <a:cubicBezTo>
                    <a:pt x="3440430" y="1932940"/>
                    <a:pt x="3429000" y="1965960"/>
                    <a:pt x="3429000" y="1965960"/>
                  </a:cubicBezTo>
                  <a:cubicBezTo>
                    <a:pt x="3427730" y="1967230"/>
                    <a:pt x="3407410" y="1996440"/>
                    <a:pt x="3397250" y="2011680"/>
                  </a:cubicBezTo>
                  <a:cubicBezTo>
                    <a:pt x="3385820" y="2026920"/>
                    <a:pt x="3365500" y="2057400"/>
                    <a:pt x="3364230" y="2057400"/>
                  </a:cubicBezTo>
                  <a:cubicBezTo>
                    <a:pt x="3364230" y="2058670"/>
                    <a:pt x="3336290" y="2082800"/>
                    <a:pt x="3322320" y="2094230"/>
                  </a:cubicBezTo>
                  <a:cubicBezTo>
                    <a:pt x="3308350" y="2106930"/>
                    <a:pt x="3281680" y="2131060"/>
                    <a:pt x="3280410" y="2132330"/>
                  </a:cubicBezTo>
                  <a:cubicBezTo>
                    <a:pt x="3280410" y="2132330"/>
                    <a:pt x="3247390" y="2148840"/>
                    <a:pt x="3230880" y="2157730"/>
                  </a:cubicBezTo>
                  <a:cubicBezTo>
                    <a:pt x="3214370" y="2166620"/>
                    <a:pt x="3182620" y="2183130"/>
                    <a:pt x="3181350" y="2183130"/>
                  </a:cubicBezTo>
                  <a:cubicBezTo>
                    <a:pt x="3181350" y="2183130"/>
                    <a:pt x="3145790" y="2192020"/>
                    <a:pt x="3126740" y="2197100"/>
                  </a:cubicBezTo>
                  <a:cubicBezTo>
                    <a:pt x="3108960" y="2200910"/>
                    <a:pt x="3073400" y="2209800"/>
                    <a:pt x="3072130" y="2209800"/>
                  </a:cubicBezTo>
                  <a:cubicBezTo>
                    <a:pt x="3072130" y="2209800"/>
                    <a:pt x="3035300" y="2209800"/>
                    <a:pt x="3016250" y="2209800"/>
                  </a:cubicBezTo>
                  <a:cubicBezTo>
                    <a:pt x="2998470" y="2209800"/>
                    <a:pt x="2961640" y="2209800"/>
                    <a:pt x="2960370" y="2209800"/>
                  </a:cubicBezTo>
                  <a:cubicBezTo>
                    <a:pt x="2960370" y="2209800"/>
                    <a:pt x="2921000" y="2199640"/>
                    <a:pt x="2907030" y="2195830"/>
                  </a:cubicBezTo>
                  <a:cubicBezTo>
                    <a:pt x="2896870" y="2193290"/>
                    <a:pt x="2894330" y="2190750"/>
                    <a:pt x="2882900" y="2189480"/>
                  </a:cubicBezTo>
                  <a:cubicBezTo>
                    <a:pt x="2843530" y="2188210"/>
                    <a:pt x="2726690" y="2227580"/>
                    <a:pt x="2635250" y="2235200"/>
                  </a:cubicBezTo>
                  <a:cubicBezTo>
                    <a:pt x="2520950" y="2246630"/>
                    <a:pt x="2378710" y="2221230"/>
                    <a:pt x="2249170" y="2236470"/>
                  </a:cubicBezTo>
                  <a:cubicBezTo>
                    <a:pt x="2114550" y="2251710"/>
                    <a:pt x="1974850" y="2315210"/>
                    <a:pt x="1840230" y="2330450"/>
                  </a:cubicBezTo>
                  <a:cubicBezTo>
                    <a:pt x="1710690" y="2345690"/>
                    <a:pt x="1595120" y="2335530"/>
                    <a:pt x="1456690" y="2331720"/>
                  </a:cubicBezTo>
                  <a:cubicBezTo>
                    <a:pt x="1292860" y="2326640"/>
                    <a:pt x="1084580" y="2329180"/>
                    <a:pt x="918210" y="2298700"/>
                  </a:cubicBezTo>
                  <a:cubicBezTo>
                    <a:pt x="767080" y="2272030"/>
                    <a:pt x="588010" y="2254250"/>
                    <a:pt x="497840" y="2169160"/>
                  </a:cubicBezTo>
                  <a:cubicBezTo>
                    <a:pt x="416560" y="2091690"/>
                    <a:pt x="397510" y="1854200"/>
                    <a:pt x="375920" y="1837690"/>
                  </a:cubicBezTo>
                  <a:cubicBezTo>
                    <a:pt x="372110" y="1835150"/>
                    <a:pt x="369570" y="1837690"/>
                    <a:pt x="365760" y="1837690"/>
                  </a:cubicBezTo>
                  <a:cubicBezTo>
                    <a:pt x="359410" y="1836420"/>
                    <a:pt x="350520" y="1830070"/>
                    <a:pt x="342900" y="1827530"/>
                  </a:cubicBezTo>
                  <a:cubicBezTo>
                    <a:pt x="334010" y="1824990"/>
                    <a:pt x="326390" y="1826260"/>
                    <a:pt x="317500" y="1823720"/>
                  </a:cubicBezTo>
                  <a:cubicBezTo>
                    <a:pt x="304800" y="1819910"/>
                    <a:pt x="288290" y="1807210"/>
                    <a:pt x="273050" y="1799590"/>
                  </a:cubicBezTo>
                  <a:cubicBezTo>
                    <a:pt x="257810" y="1793240"/>
                    <a:pt x="237490" y="1788160"/>
                    <a:pt x="226060" y="1781810"/>
                  </a:cubicBezTo>
                  <a:cubicBezTo>
                    <a:pt x="217170" y="1776730"/>
                    <a:pt x="213360" y="1769110"/>
                    <a:pt x="207010" y="1765300"/>
                  </a:cubicBezTo>
                  <a:cubicBezTo>
                    <a:pt x="199390" y="1760220"/>
                    <a:pt x="191770" y="1758950"/>
                    <a:pt x="184150" y="1752600"/>
                  </a:cubicBezTo>
                  <a:cubicBezTo>
                    <a:pt x="172720" y="1744980"/>
                    <a:pt x="161290" y="1728470"/>
                    <a:pt x="149860" y="1715770"/>
                  </a:cubicBezTo>
                  <a:cubicBezTo>
                    <a:pt x="137160" y="1704340"/>
                    <a:pt x="119380" y="1694180"/>
                    <a:pt x="110490" y="1684020"/>
                  </a:cubicBezTo>
                  <a:cubicBezTo>
                    <a:pt x="104140" y="1676400"/>
                    <a:pt x="102870" y="1668780"/>
                    <a:pt x="97790" y="1662430"/>
                  </a:cubicBezTo>
                  <a:cubicBezTo>
                    <a:pt x="92710" y="1654810"/>
                    <a:pt x="86360" y="1651000"/>
                    <a:pt x="80010" y="1643380"/>
                  </a:cubicBezTo>
                  <a:cubicBezTo>
                    <a:pt x="72390" y="1631950"/>
                    <a:pt x="67310" y="1612900"/>
                    <a:pt x="58420" y="1597660"/>
                  </a:cubicBezTo>
                  <a:cubicBezTo>
                    <a:pt x="50800" y="1582420"/>
                    <a:pt x="38100" y="1567180"/>
                    <a:pt x="33020" y="1554480"/>
                  </a:cubicBezTo>
                  <a:cubicBezTo>
                    <a:pt x="29210" y="1545590"/>
                    <a:pt x="30480" y="1537970"/>
                    <a:pt x="27940" y="1529080"/>
                  </a:cubicBezTo>
                  <a:cubicBezTo>
                    <a:pt x="25400" y="1521460"/>
                    <a:pt x="19050" y="1516380"/>
                    <a:pt x="16510" y="1506220"/>
                  </a:cubicBezTo>
                  <a:cubicBezTo>
                    <a:pt x="12700" y="1493520"/>
                    <a:pt x="13970" y="1473200"/>
                    <a:pt x="11430" y="1456690"/>
                  </a:cubicBezTo>
                  <a:cubicBezTo>
                    <a:pt x="8890" y="1438910"/>
                    <a:pt x="0" y="1407160"/>
                    <a:pt x="0" y="140716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7654290" y="7155180"/>
            <a:ext cx="2518410" cy="1831658"/>
            <a:chOff x="0" y="0"/>
            <a:chExt cx="3357880" cy="244221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44546" y="50236"/>
              <a:ext cx="3262534" cy="2348872"/>
            </a:xfrm>
            <a:custGeom>
              <a:avLst/>
              <a:gdLst/>
              <a:ahLst/>
              <a:cxnLst/>
              <a:rect r="r" b="b" t="t" l="l"/>
              <a:pathLst>
                <a:path h="2348872" w="3262534">
                  <a:moveTo>
                    <a:pt x="6254" y="1612194"/>
                  </a:moveTo>
                  <a:cubicBezTo>
                    <a:pt x="142144" y="1228654"/>
                    <a:pt x="24034" y="1124514"/>
                    <a:pt x="39274" y="1011484"/>
                  </a:cubicBezTo>
                  <a:cubicBezTo>
                    <a:pt x="59594" y="864164"/>
                    <a:pt x="208184" y="613974"/>
                    <a:pt x="337724" y="533964"/>
                  </a:cubicBezTo>
                  <a:cubicBezTo>
                    <a:pt x="444404" y="467924"/>
                    <a:pt x="592994" y="523804"/>
                    <a:pt x="721264" y="499674"/>
                  </a:cubicBezTo>
                  <a:cubicBezTo>
                    <a:pt x="855884" y="473004"/>
                    <a:pt x="981614" y="390454"/>
                    <a:pt x="1127664" y="379024"/>
                  </a:cubicBezTo>
                  <a:cubicBezTo>
                    <a:pt x="1292764" y="367594"/>
                    <a:pt x="1487074" y="448874"/>
                    <a:pt x="1664874" y="459034"/>
                  </a:cubicBezTo>
                  <a:cubicBezTo>
                    <a:pt x="1836324" y="469194"/>
                    <a:pt x="2062384" y="415854"/>
                    <a:pt x="2177954" y="442524"/>
                  </a:cubicBezTo>
                  <a:cubicBezTo>
                    <a:pt x="2241454" y="457764"/>
                    <a:pt x="2298604" y="527614"/>
                    <a:pt x="2317654" y="517454"/>
                  </a:cubicBezTo>
                  <a:cubicBezTo>
                    <a:pt x="2329084" y="512374"/>
                    <a:pt x="2325274" y="469194"/>
                    <a:pt x="2325274" y="465384"/>
                  </a:cubicBezTo>
                  <a:cubicBezTo>
                    <a:pt x="2325274" y="465384"/>
                    <a:pt x="2325274" y="465384"/>
                    <a:pt x="2326544" y="464114"/>
                  </a:cubicBezTo>
                  <a:cubicBezTo>
                    <a:pt x="2326544" y="461574"/>
                    <a:pt x="2330354" y="427284"/>
                    <a:pt x="2332894" y="408234"/>
                  </a:cubicBezTo>
                  <a:cubicBezTo>
                    <a:pt x="2335434" y="390454"/>
                    <a:pt x="2339244" y="353624"/>
                    <a:pt x="2339244" y="352354"/>
                  </a:cubicBezTo>
                  <a:cubicBezTo>
                    <a:pt x="2339244" y="352354"/>
                    <a:pt x="2353214" y="318064"/>
                    <a:pt x="2359564" y="300284"/>
                  </a:cubicBezTo>
                  <a:cubicBezTo>
                    <a:pt x="2365914" y="282504"/>
                    <a:pt x="2378614" y="248214"/>
                    <a:pt x="2379884" y="246944"/>
                  </a:cubicBezTo>
                  <a:cubicBezTo>
                    <a:pt x="2379884" y="246944"/>
                    <a:pt x="2401474" y="216464"/>
                    <a:pt x="2411634" y="201224"/>
                  </a:cubicBezTo>
                  <a:cubicBezTo>
                    <a:pt x="2421794" y="184714"/>
                    <a:pt x="2443384" y="154234"/>
                    <a:pt x="2443384" y="154234"/>
                  </a:cubicBezTo>
                  <a:cubicBezTo>
                    <a:pt x="2444654" y="154234"/>
                    <a:pt x="2471324" y="128834"/>
                    <a:pt x="2485294" y="117404"/>
                  </a:cubicBezTo>
                  <a:cubicBezTo>
                    <a:pt x="2500534" y="104704"/>
                    <a:pt x="2527204" y="79304"/>
                    <a:pt x="2528474" y="79304"/>
                  </a:cubicBezTo>
                  <a:cubicBezTo>
                    <a:pt x="2528474" y="79304"/>
                    <a:pt x="2561494" y="61524"/>
                    <a:pt x="2578004" y="52634"/>
                  </a:cubicBezTo>
                  <a:cubicBezTo>
                    <a:pt x="2594514" y="45014"/>
                    <a:pt x="2627534" y="27234"/>
                    <a:pt x="2627534" y="27234"/>
                  </a:cubicBezTo>
                  <a:cubicBezTo>
                    <a:pt x="2628804" y="27234"/>
                    <a:pt x="2664364" y="18344"/>
                    <a:pt x="2683414" y="13264"/>
                  </a:cubicBezTo>
                  <a:cubicBezTo>
                    <a:pt x="2701194" y="9454"/>
                    <a:pt x="2736754" y="564"/>
                    <a:pt x="2738024" y="564"/>
                  </a:cubicBezTo>
                  <a:cubicBezTo>
                    <a:pt x="2738024" y="-706"/>
                    <a:pt x="2774854" y="564"/>
                    <a:pt x="2793904" y="564"/>
                  </a:cubicBezTo>
                  <a:cubicBezTo>
                    <a:pt x="2812954" y="564"/>
                    <a:pt x="2849784" y="-706"/>
                    <a:pt x="2849784" y="564"/>
                  </a:cubicBezTo>
                  <a:cubicBezTo>
                    <a:pt x="2851054" y="564"/>
                    <a:pt x="2851054" y="564"/>
                    <a:pt x="2851054" y="564"/>
                  </a:cubicBezTo>
                  <a:cubicBezTo>
                    <a:pt x="2851054" y="564"/>
                    <a:pt x="2886614" y="9454"/>
                    <a:pt x="2905664" y="13264"/>
                  </a:cubicBezTo>
                  <a:cubicBezTo>
                    <a:pt x="2923444" y="18344"/>
                    <a:pt x="2959004" y="27234"/>
                    <a:pt x="2960274" y="27234"/>
                  </a:cubicBezTo>
                  <a:cubicBezTo>
                    <a:pt x="2960274" y="27234"/>
                    <a:pt x="2993294" y="45014"/>
                    <a:pt x="3009804" y="52634"/>
                  </a:cubicBezTo>
                  <a:cubicBezTo>
                    <a:pt x="3026314" y="61524"/>
                    <a:pt x="3059334" y="79304"/>
                    <a:pt x="3059334" y="79304"/>
                  </a:cubicBezTo>
                  <a:cubicBezTo>
                    <a:pt x="3060604" y="79304"/>
                    <a:pt x="3088544" y="104704"/>
                    <a:pt x="3102514" y="117404"/>
                  </a:cubicBezTo>
                  <a:cubicBezTo>
                    <a:pt x="3116484" y="128834"/>
                    <a:pt x="3144424" y="154234"/>
                    <a:pt x="3144424" y="154234"/>
                  </a:cubicBezTo>
                  <a:cubicBezTo>
                    <a:pt x="3144424" y="154234"/>
                    <a:pt x="3166014" y="184714"/>
                    <a:pt x="3176174" y="201224"/>
                  </a:cubicBezTo>
                  <a:cubicBezTo>
                    <a:pt x="3187604" y="216464"/>
                    <a:pt x="3207924" y="246944"/>
                    <a:pt x="3207924" y="246944"/>
                  </a:cubicBezTo>
                  <a:cubicBezTo>
                    <a:pt x="3209194" y="248214"/>
                    <a:pt x="3221894" y="282504"/>
                    <a:pt x="3228244" y="300284"/>
                  </a:cubicBezTo>
                  <a:cubicBezTo>
                    <a:pt x="3234594" y="318064"/>
                    <a:pt x="3248564" y="352354"/>
                    <a:pt x="3248564" y="352354"/>
                  </a:cubicBezTo>
                  <a:cubicBezTo>
                    <a:pt x="3248564" y="353624"/>
                    <a:pt x="3253644" y="390454"/>
                    <a:pt x="3254914" y="408234"/>
                  </a:cubicBezTo>
                  <a:cubicBezTo>
                    <a:pt x="3257454" y="427284"/>
                    <a:pt x="3262534" y="464114"/>
                    <a:pt x="3262534" y="464114"/>
                  </a:cubicBezTo>
                  <a:cubicBezTo>
                    <a:pt x="3262534" y="464114"/>
                    <a:pt x="3262534" y="464114"/>
                    <a:pt x="3262534" y="465384"/>
                  </a:cubicBezTo>
                  <a:cubicBezTo>
                    <a:pt x="3261264" y="467924"/>
                    <a:pt x="3251104" y="691444"/>
                    <a:pt x="3235864" y="810824"/>
                  </a:cubicBezTo>
                  <a:cubicBezTo>
                    <a:pt x="3219354" y="941634"/>
                    <a:pt x="3185064" y="1152454"/>
                    <a:pt x="3163474" y="1217224"/>
                  </a:cubicBezTo>
                  <a:cubicBezTo>
                    <a:pt x="3155854" y="1240084"/>
                    <a:pt x="3145694" y="1248974"/>
                    <a:pt x="3141884" y="1260404"/>
                  </a:cubicBezTo>
                  <a:cubicBezTo>
                    <a:pt x="3139344" y="1266754"/>
                    <a:pt x="3139344" y="1269294"/>
                    <a:pt x="3138074" y="1276914"/>
                  </a:cubicBezTo>
                  <a:cubicBezTo>
                    <a:pt x="3134264" y="1289614"/>
                    <a:pt x="3124104" y="1330254"/>
                    <a:pt x="3124104" y="1331524"/>
                  </a:cubicBezTo>
                  <a:cubicBezTo>
                    <a:pt x="3124104" y="1331524"/>
                    <a:pt x="3107594" y="1364544"/>
                    <a:pt x="3098704" y="1381054"/>
                  </a:cubicBezTo>
                  <a:cubicBezTo>
                    <a:pt x="3089814" y="1397564"/>
                    <a:pt x="3073304" y="1430584"/>
                    <a:pt x="3072034" y="1430584"/>
                  </a:cubicBezTo>
                  <a:cubicBezTo>
                    <a:pt x="3072034" y="1431854"/>
                    <a:pt x="3047904" y="1453444"/>
                    <a:pt x="3035204" y="1472494"/>
                  </a:cubicBezTo>
                  <a:cubicBezTo>
                    <a:pt x="3016154" y="1500434"/>
                    <a:pt x="3003454" y="1558854"/>
                    <a:pt x="2974244" y="1593144"/>
                  </a:cubicBezTo>
                  <a:cubicBezTo>
                    <a:pt x="2943764" y="1631244"/>
                    <a:pt x="2862484" y="1676964"/>
                    <a:pt x="2851054" y="1689664"/>
                  </a:cubicBezTo>
                  <a:cubicBezTo>
                    <a:pt x="2848514" y="1692204"/>
                    <a:pt x="2849784" y="1692204"/>
                    <a:pt x="2847244" y="1694744"/>
                  </a:cubicBezTo>
                  <a:cubicBezTo>
                    <a:pt x="2842164" y="1702364"/>
                    <a:pt x="2815494" y="1740464"/>
                    <a:pt x="2815494" y="1740464"/>
                  </a:cubicBezTo>
                  <a:cubicBezTo>
                    <a:pt x="2814224" y="1741734"/>
                    <a:pt x="2787554" y="1764594"/>
                    <a:pt x="2772314" y="1777294"/>
                  </a:cubicBezTo>
                  <a:cubicBezTo>
                    <a:pt x="2758344" y="1789994"/>
                    <a:pt x="2731674" y="1814124"/>
                    <a:pt x="2730404" y="1814124"/>
                  </a:cubicBezTo>
                  <a:cubicBezTo>
                    <a:pt x="2730404" y="1815394"/>
                    <a:pt x="2697384" y="1831904"/>
                    <a:pt x="2680874" y="1840794"/>
                  </a:cubicBezTo>
                  <a:cubicBezTo>
                    <a:pt x="2664364" y="1848414"/>
                    <a:pt x="2638964" y="1856034"/>
                    <a:pt x="2633884" y="1863654"/>
                  </a:cubicBezTo>
                  <a:cubicBezTo>
                    <a:pt x="2631344" y="1867464"/>
                    <a:pt x="2636424" y="1870004"/>
                    <a:pt x="2633884" y="1875084"/>
                  </a:cubicBezTo>
                  <a:cubicBezTo>
                    <a:pt x="2618644" y="1909374"/>
                    <a:pt x="2448464" y="2130354"/>
                    <a:pt x="2327814" y="2182424"/>
                  </a:cubicBezTo>
                  <a:cubicBezTo>
                    <a:pt x="2214784" y="2233224"/>
                    <a:pt x="2067464" y="2195124"/>
                    <a:pt x="1937924" y="2197664"/>
                  </a:cubicBezTo>
                  <a:cubicBezTo>
                    <a:pt x="1808384" y="2200204"/>
                    <a:pt x="1681384" y="2179884"/>
                    <a:pt x="1553114" y="2198934"/>
                  </a:cubicBezTo>
                  <a:cubicBezTo>
                    <a:pt x="1419764" y="2217984"/>
                    <a:pt x="1286414" y="2290374"/>
                    <a:pt x="1151794" y="2314504"/>
                  </a:cubicBezTo>
                  <a:cubicBezTo>
                    <a:pt x="1022254" y="2337364"/>
                    <a:pt x="887634" y="2362764"/>
                    <a:pt x="761904" y="2339904"/>
                  </a:cubicBezTo>
                  <a:cubicBezTo>
                    <a:pt x="636174" y="2318314"/>
                    <a:pt x="516794" y="2238304"/>
                    <a:pt x="396144" y="2179884"/>
                  </a:cubicBezTo>
                  <a:cubicBezTo>
                    <a:pt x="276764" y="2121464"/>
                    <a:pt x="105314" y="2089714"/>
                    <a:pt x="40544" y="1991924"/>
                  </a:cubicBezTo>
                  <a:cubicBezTo>
                    <a:pt x="-21686" y="1897944"/>
                    <a:pt x="6254" y="1612194"/>
                    <a:pt x="6254" y="1612194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3310890" y="8376285"/>
            <a:ext cx="642938" cy="642938"/>
            <a:chOff x="0" y="0"/>
            <a:chExt cx="857250" cy="8572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50081" y="44636"/>
              <a:ext cx="743711" cy="761212"/>
            </a:xfrm>
            <a:custGeom>
              <a:avLst/>
              <a:gdLst/>
              <a:ahLst/>
              <a:cxnLst/>
              <a:rect r="r" b="b" t="t" l="l"/>
              <a:pathLst>
                <a:path h="761212" w="743711">
                  <a:moveTo>
                    <a:pt x="743669" y="267784"/>
                  </a:moveTo>
                  <a:cubicBezTo>
                    <a:pt x="744939" y="507814"/>
                    <a:pt x="716999" y="568774"/>
                    <a:pt x="680169" y="615764"/>
                  </a:cubicBezTo>
                  <a:cubicBezTo>
                    <a:pt x="644609" y="661484"/>
                    <a:pt x="591269" y="703394"/>
                    <a:pt x="536659" y="727524"/>
                  </a:cubicBezTo>
                  <a:cubicBezTo>
                    <a:pt x="483319" y="751654"/>
                    <a:pt x="416009" y="764354"/>
                    <a:pt x="357589" y="760544"/>
                  </a:cubicBezTo>
                  <a:cubicBezTo>
                    <a:pt x="299169" y="756734"/>
                    <a:pt x="234399" y="737684"/>
                    <a:pt x="183599" y="705934"/>
                  </a:cubicBezTo>
                  <a:cubicBezTo>
                    <a:pt x="132799" y="675454"/>
                    <a:pt x="84539" y="628464"/>
                    <a:pt x="54059" y="577664"/>
                  </a:cubicBezTo>
                  <a:cubicBezTo>
                    <a:pt x="23579" y="526864"/>
                    <a:pt x="3259" y="462094"/>
                    <a:pt x="719" y="403674"/>
                  </a:cubicBezTo>
                  <a:cubicBezTo>
                    <a:pt x="-3091" y="343984"/>
                    <a:pt x="8339" y="277944"/>
                    <a:pt x="32469" y="224604"/>
                  </a:cubicBezTo>
                  <a:cubicBezTo>
                    <a:pt x="57869" y="169994"/>
                    <a:pt x="98509" y="116654"/>
                    <a:pt x="145499" y="81094"/>
                  </a:cubicBezTo>
                  <a:cubicBezTo>
                    <a:pt x="192489" y="44264"/>
                    <a:pt x="253449" y="16324"/>
                    <a:pt x="311869" y="6164"/>
                  </a:cubicBezTo>
                  <a:cubicBezTo>
                    <a:pt x="370289" y="-5266"/>
                    <a:pt x="437599" y="-186"/>
                    <a:pt x="493479" y="16324"/>
                  </a:cubicBezTo>
                  <a:cubicBezTo>
                    <a:pt x="550629" y="34104"/>
                    <a:pt x="649689" y="111574"/>
                    <a:pt x="649689" y="111574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3926205" y="8305800"/>
            <a:ext cx="642938" cy="642938"/>
            <a:chOff x="0" y="0"/>
            <a:chExt cx="857250" cy="8572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50453" y="45258"/>
              <a:ext cx="744609" cy="761859"/>
            </a:xfrm>
            <a:custGeom>
              <a:avLst/>
              <a:gdLst/>
              <a:ahLst/>
              <a:cxnLst/>
              <a:rect r="r" b="b" t="t" l="l"/>
              <a:pathLst>
                <a:path h="761859" w="744609">
                  <a:moveTo>
                    <a:pt x="744567" y="267162"/>
                  </a:moveTo>
                  <a:cubicBezTo>
                    <a:pt x="745837" y="507192"/>
                    <a:pt x="717897" y="569422"/>
                    <a:pt x="681067" y="616412"/>
                  </a:cubicBezTo>
                  <a:cubicBezTo>
                    <a:pt x="644237" y="662132"/>
                    <a:pt x="590897" y="704042"/>
                    <a:pt x="537557" y="728172"/>
                  </a:cubicBezTo>
                  <a:cubicBezTo>
                    <a:pt x="484217" y="752302"/>
                    <a:pt x="416907" y="765002"/>
                    <a:pt x="358487" y="761192"/>
                  </a:cubicBezTo>
                  <a:cubicBezTo>
                    <a:pt x="298797" y="757382"/>
                    <a:pt x="234027" y="737062"/>
                    <a:pt x="184497" y="706582"/>
                  </a:cubicBezTo>
                  <a:cubicBezTo>
                    <a:pt x="133697" y="676102"/>
                    <a:pt x="85437" y="627842"/>
                    <a:pt x="54957" y="578312"/>
                  </a:cubicBezTo>
                  <a:cubicBezTo>
                    <a:pt x="24477" y="527512"/>
                    <a:pt x="4157" y="462742"/>
                    <a:pt x="347" y="404322"/>
                  </a:cubicBezTo>
                  <a:cubicBezTo>
                    <a:pt x="-2193" y="344632"/>
                    <a:pt x="9237" y="278592"/>
                    <a:pt x="33367" y="223982"/>
                  </a:cubicBezTo>
                  <a:cubicBezTo>
                    <a:pt x="57497" y="170642"/>
                    <a:pt x="99407" y="117302"/>
                    <a:pt x="146397" y="80472"/>
                  </a:cubicBezTo>
                  <a:cubicBezTo>
                    <a:pt x="192117" y="44912"/>
                    <a:pt x="254347" y="16972"/>
                    <a:pt x="312767" y="5542"/>
                  </a:cubicBezTo>
                  <a:cubicBezTo>
                    <a:pt x="371187" y="-4618"/>
                    <a:pt x="438497" y="-808"/>
                    <a:pt x="494377" y="16972"/>
                  </a:cubicBezTo>
                  <a:cubicBezTo>
                    <a:pt x="551527" y="34752"/>
                    <a:pt x="650587" y="110952"/>
                    <a:pt x="650587" y="110952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4298632" y="8318182"/>
            <a:ext cx="642938" cy="642938"/>
            <a:chOff x="0" y="0"/>
            <a:chExt cx="857250" cy="8572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50133" y="44636"/>
              <a:ext cx="744887" cy="761212"/>
            </a:xfrm>
            <a:custGeom>
              <a:avLst/>
              <a:gdLst/>
              <a:ahLst/>
              <a:cxnLst/>
              <a:rect r="r" b="b" t="t" l="l"/>
              <a:pathLst>
                <a:path h="761212" w="744887">
                  <a:moveTo>
                    <a:pt x="744887" y="266514"/>
                  </a:moveTo>
                  <a:cubicBezTo>
                    <a:pt x="744887" y="507814"/>
                    <a:pt x="716947" y="568774"/>
                    <a:pt x="681387" y="615764"/>
                  </a:cubicBezTo>
                  <a:cubicBezTo>
                    <a:pt x="644557" y="661484"/>
                    <a:pt x="591217" y="703394"/>
                    <a:pt x="537877" y="727524"/>
                  </a:cubicBezTo>
                  <a:cubicBezTo>
                    <a:pt x="483267" y="751654"/>
                    <a:pt x="417227" y="764354"/>
                    <a:pt x="357537" y="760544"/>
                  </a:cubicBezTo>
                  <a:cubicBezTo>
                    <a:pt x="299117" y="756734"/>
                    <a:pt x="234347" y="737684"/>
                    <a:pt x="183547" y="705934"/>
                  </a:cubicBezTo>
                  <a:cubicBezTo>
                    <a:pt x="132747" y="675454"/>
                    <a:pt x="85757" y="628464"/>
                    <a:pt x="55277" y="577664"/>
                  </a:cubicBezTo>
                  <a:cubicBezTo>
                    <a:pt x="24797" y="526864"/>
                    <a:pt x="4477" y="462094"/>
                    <a:pt x="667" y="403674"/>
                  </a:cubicBezTo>
                  <a:cubicBezTo>
                    <a:pt x="-3143" y="343984"/>
                    <a:pt x="9557" y="277944"/>
                    <a:pt x="33687" y="224604"/>
                  </a:cubicBezTo>
                  <a:cubicBezTo>
                    <a:pt x="57817" y="169994"/>
                    <a:pt x="99727" y="116654"/>
                    <a:pt x="145447" y="81094"/>
                  </a:cubicBezTo>
                  <a:cubicBezTo>
                    <a:pt x="192437" y="44264"/>
                    <a:pt x="254667" y="16324"/>
                    <a:pt x="311817" y="6164"/>
                  </a:cubicBezTo>
                  <a:cubicBezTo>
                    <a:pt x="370237" y="-5266"/>
                    <a:pt x="437547" y="-186"/>
                    <a:pt x="494697" y="16324"/>
                  </a:cubicBezTo>
                  <a:cubicBezTo>
                    <a:pt x="550577" y="34104"/>
                    <a:pt x="650907" y="111574"/>
                    <a:pt x="650907" y="111574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4542472" y="8318182"/>
            <a:ext cx="642938" cy="642938"/>
            <a:chOff x="0" y="0"/>
            <a:chExt cx="857250" cy="8572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50133" y="44636"/>
              <a:ext cx="744887" cy="761212"/>
            </a:xfrm>
            <a:custGeom>
              <a:avLst/>
              <a:gdLst/>
              <a:ahLst/>
              <a:cxnLst/>
              <a:rect r="r" b="b" t="t" l="l"/>
              <a:pathLst>
                <a:path h="761212" w="744887">
                  <a:moveTo>
                    <a:pt x="744887" y="266514"/>
                  </a:moveTo>
                  <a:cubicBezTo>
                    <a:pt x="744887" y="507814"/>
                    <a:pt x="716947" y="568774"/>
                    <a:pt x="681387" y="615764"/>
                  </a:cubicBezTo>
                  <a:cubicBezTo>
                    <a:pt x="644557" y="661484"/>
                    <a:pt x="591217" y="703394"/>
                    <a:pt x="537877" y="727524"/>
                  </a:cubicBezTo>
                  <a:cubicBezTo>
                    <a:pt x="483267" y="751654"/>
                    <a:pt x="417227" y="764354"/>
                    <a:pt x="358807" y="760544"/>
                  </a:cubicBezTo>
                  <a:cubicBezTo>
                    <a:pt x="299117" y="756734"/>
                    <a:pt x="234347" y="737684"/>
                    <a:pt x="183547" y="705934"/>
                  </a:cubicBezTo>
                  <a:cubicBezTo>
                    <a:pt x="134017" y="675454"/>
                    <a:pt x="85757" y="628464"/>
                    <a:pt x="55277" y="577664"/>
                  </a:cubicBezTo>
                  <a:cubicBezTo>
                    <a:pt x="24797" y="526864"/>
                    <a:pt x="4477" y="462094"/>
                    <a:pt x="667" y="403674"/>
                  </a:cubicBezTo>
                  <a:cubicBezTo>
                    <a:pt x="-3143" y="343984"/>
                    <a:pt x="9557" y="277944"/>
                    <a:pt x="33687" y="224604"/>
                  </a:cubicBezTo>
                  <a:cubicBezTo>
                    <a:pt x="57817" y="169994"/>
                    <a:pt x="99727" y="116654"/>
                    <a:pt x="146717" y="81094"/>
                  </a:cubicBezTo>
                  <a:cubicBezTo>
                    <a:pt x="192437" y="44264"/>
                    <a:pt x="254667" y="16324"/>
                    <a:pt x="313087" y="6164"/>
                  </a:cubicBezTo>
                  <a:cubicBezTo>
                    <a:pt x="370237" y="-5266"/>
                    <a:pt x="438817" y="-186"/>
                    <a:pt x="494697" y="16324"/>
                  </a:cubicBezTo>
                  <a:cubicBezTo>
                    <a:pt x="550577" y="34104"/>
                    <a:pt x="650907" y="111574"/>
                    <a:pt x="650907" y="111574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6603980" y="3231833"/>
            <a:ext cx="642938" cy="642938"/>
            <a:chOff x="0" y="0"/>
            <a:chExt cx="857250" cy="85725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50133" y="44636"/>
              <a:ext cx="744887" cy="761212"/>
            </a:xfrm>
            <a:custGeom>
              <a:avLst/>
              <a:gdLst/>
              <a:ahLst/>
              <a:cxnLst/>
              <a:rect r="r" b="b" t="t" l="l"/>
              <a:pathLst>
                <a:path h="761212" w="744887">
                  <a:moveTo>
                    <a:pt x="744887" y="267784"/>
                  </a:moveTo>
                  <a:cubicBezTo>
                    <a:pt x="744887" y="507814"/>
                    <a:pt x="718217" y="568774"/>
                    <a:pt x="681387" y="615764"/>
                  </a:cubicBezTo>
                  <a:cubicBezTo>
                    <a:pt x="644557" y="661484"/>
                    <a:pt x="591217" y="703394"/>
                    <a:pt x="537877" y="727524"/>
                  </a:cubicBezTo>
                  <a:cubicBezTo>
                    <a:pt x="483267" y="751654"/>
                    <a:pt x="417227" y="764354"/>
                    <a:pt x="358807" y="760544"/>
                  </a:cubicBezTo>
                  <a:cubicBezTo>
                    <a:pt x="299117" y="756734"/>
                    <a:pt x="234347" y="737684"/>
                    <a:pt x="184817" y="705934"/>
                  </a:cubicBezTo>
                  <a:cubicBezTo>
                    <a:pt x="134017" y="675454"/>
                    <a:pt x="85757" y="628464"/>
                    <a:pt x="55277" y="577664"/>
                  </a:cubicBezTo>
                  <a:cubicBezTo>
                    <a:pt x="24797" y="526864"/>
                    <a:pt x="4477" y="462094"/>
                    <a:pt x="667" y="403674"/>
                  </a:cubicBezTo>
                  <a:cubicBezTo>
                    <a:pt x="-3143" y="343984"/>
                    <a:pt x="9557" y="277944"/>
                    <a:pt x="33687" y="224604"/>
                  </a:cubicBezTo>
                  <a:cubicBezTo>
                    <a:pt x="57817" y="169994"/>
                    <a:pt x="99727" y="116654"/>
                    <a:pt x="146717" y="81094"/>
                  </a:cubicBezTo>
                  <a:cubicBezTo>
                    <a:pt x="192437" y="44264"/>
                    <a:pt x="254667" y="16324"/>
                    <a:pt x="313087" y="6164"/>
                  </a:cubicBezTo>
                  <a:cubicBezTo>
                    <a:pt x="370237" y="-5266"/>
                    <a:pt x="438817" y="-186"/>
                    <a:pt x="494697" y="16324"/>
                  </a:cubicBezTo>
                  <a:cubicBezTo>
                    <a:pt x="550577" y="34104"/>
                    <a:pt x="650907" y="111574"/>
                    <a:pt x="650907" y="111574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6565880" y="3600450"/>
            <a:ext cx="312420" cy="312420"/>
            <a:chOff x="0" y="0"/>
            <a:chExt cx="416560" cy="4165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50608" y="48720"/>
              <a:ext cx="310072" cy="317232"/>
            </a:xfrm>
            <a:custGeom>
              <a:avLst/>
              <a:gdLst/>
              <a:ahLst/>
              <a:cxnLst/>
              <a:rect r="r" b="b" t="t" l="l"/>
              <a:pathLst>
                <a:path h="317232" w="310072">
                  <a:moveTo>
                    <a:pt x="310072" y="111300"/>
                  </a:moveTo>
                  <a:cubicBezTo>
                    <a:pt x="310072" y="211630"/>
                    <a:pt x="298642" y="237030"/>
                    <a:pt x="283402" y="256080"/>
                  </a:cubicBezTo>
                  <a:cubicBezTo>
                    <a:pt x="268162" y="275130"/>
                    <a:pt x="246572" y="292910"/>
                    <a:pt x="223712" y="303070"/>
                  </a:cubicBezTo>
                  <a:cubicBezTo>
                    <a:pt x="200852" y="313230"/>
                    <a:pt x="172912" y="318310"/>
                    <a:pt x="148782" y="317040"/>
                  </a:cubicBezTo>
                  <a:cubicBezTo>
                    <a:pt x="124652" y="315770"/>
                    <a:pt x="96712" y="306880"/>
                    <a:pt x="76392" y="294180"/>
                  </a:cubicBezTo>
                  <a:cubicBezTo>
                    <a:pt x="54802" y="281480"/>
                    <a:pt x="35752" y="261160"/>
                    <a:pt x="23052" y="240840"/>
                  </a:cubicBezTo>
                  <a:cubicBezTo>
                    <a:pt x="10352" y="219250"/>
                    <a:pt x="1462" y="192580"/>
                    <a:pt x="192" y="167180"/>
                  </a:cubicBezTo>
                  <a:cubicBezTo>
                    <a:pt x="-1078" y="143050"/>
                    <a:pt x="4002" y="115110"/>
                    <a:pt x="14162" y="93520"/>
                  </a:cubicBezTo>
                  <a:cubicBezTo>
                    <a:pt x="24322" y="70660"/>
                    <a:pt x="40832" y="47800"/>
                    <a:pt x="59882" y="33830"/>
                  </a:cubicBezTo>
                  <a:cubicBezTo>
                    <a:pt x="80202" y="18590"/>
                    <a:pt x="105602" y="5890"/>
                    <a:pt x="129732" y="2080"/>
                  </a:cubicBezTo>
                  <a:cubicBezTo>
                    <a:pt x="153862" y="-1730"/>
                    <a:pt x="181802" y="-460"/>
                    <a:pt x="205932" y="7160"/>
                  </a:cubicBezTo>
                  <a:cubicBezTo>
                    <a:pt x="228792" y="13510"/>
                    <a:pt x="270702" y="46530"/>
                    <a:pt x="270702" y="4653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6931640" y="3469958"/>
            <a:ext cx="632460" cy="373380"/>
            <a:chOff x="0" y="0"/>
            <a:chExt cx="843280" cy="4978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50479" y="68574"/>
              <a:ext cx="741647" cy="378405"/>
            </a:xfrm>
            <a:custGeom>
              <a:avLst/>
              <a:gdLst/>
              <a:ahLst/>
              <a:cxnLst/>
              <a:rect r="r" b="b" t="t" l="l"/>
              <a:pathLst>
                <a:path h="378405" w="741647">
                  <a:moveTo>
                    <a:pt x="127321" y="58426"/>
                  </a:moveTo>
                  <a:cubicBezTo>
                    <a:pt x="559121" y="-13964"/>
                    <a:pt x="559121" y="-1264"/>
                    <a:pt x="570551" y="5086"/>
                  </a:cubicBezTo>
                  <a:cubicBezTo>
                    <a:pt x="589601" y="13976"/>
                    <a:pt x="630241" y="15246"/>
                    <a:pt x="650561" y="24136"/>
                  </a:cubicBezTo>
                  <a:cubicBezTo>
                    <a:pt x="664531" y="30486"/>
                    <a:pt x="673421" y="36836"/>
                    <a:pt x="684851" y="48266"/>
                  </a:cubicBezTo>
                  <a:cubicBezTo>
                    <a:pt x="700091" y="63506"/>
                    <a:pt x="721681" y="90176"/>
                    <a:pt x="730571" y="115576"/>
                  </a:cubicBezTo>
                  <a:cubicBezTo>
                    <a:pt x="740731" y="139706"/>
                    <a:pt x="742001" y="173996"/>
                    <a:pt x="740731" y="196856"/>
                  </a:cubicBezTo>
                  <a:cubicBezTo>
                    <a:pt x="739461" y="212096"/>
                    <a:pt x="736921" y="222256"/>
                    <a:pt x="730571" y="236226"/>
                  </a:cubicBezTo>
                  <a:cubicBezTo>
                    <a:pt x="721681" y="256546"/>
                    <a:pt x="703901" y="285756"/>
                    <a:pt x="684851" y="303536"/>
                  </a:cubicBezTo>
                  <a:cubicBezTo>
                    <a:pt x="664531" y="321316"/>
                    <a:pt x="637861" y="335286"/>
                    <a:pt x="612461" y="341636"/>
                  </a:cubicBezTo>
                  <a:cubicBezTo>
                    <a:pt x="584521" y="347986"/>
                    <a:pt x="546421" y="345446"/>
                    <a:pt x="522291" y="339096"/>
                  </a:cubicBezTo>
                  <a:cubicBezTo>
                    <a:pt x="501971" y="334016"/>
                    <a:pt x="486731" y="325126"/>
                    <a:pt x="472761" y="314966"/>
                  </a:cubicBezTo>
                  <a:cubicBezTo>
                    <a:pt x="457521" y="304806"/>
                    <a:pt x="443551" y="293376"/>
                    <a:pt x="433391" y="275596"/>
                  </a:cubicBezTo>
                  <a:cubicBezTo>
                    <a:pt x="418151" y="251466"/>
                    <a:pt x="401641" y="201936"/>
                    <a:pt x="400371" y="171456"/>
                  </a:cubicBezTo>
                  <a:cubicBezTo>
                    <a:pt x="399101" y="151136"/>
                    <a:pt x="401641" y="137166"/>
                    <a:pt x="410531" y="118116"/>
                  </a:cubicBezTo>
                  <a:cubicBezTo>
                    <a:pt x="421961" y="91446"/>
                    <a:pt x="449901" y="50806"/>
                    <a:pt x="477841" y="31756"/>
                  </a:cubicBezTo>
                  <a:cubicBezTo>
                    <a:pt x="507051" y="13976"/>
                    <a:pt x="554041" y="5086"/>
                    <a:pt x="584521" y="5086"/>
                  </a:cubicBezTo>
                  <a:cubicBezTo>
                    <a:pt x="604841" y="5086"/>
                    <a:pt x="618811" y="8896"/>
                    <a:pt x="637861" y="17786"/>
                  </a:cubicBezTo>
                  <a:cubicBezTo>
                    <a:pt x="663261" y="31756"/>
                    <a:pt x="702631" y="60966"/>
                    <a:pt x="719141" y="91446"/>
                  </a:cubicBezTo>
                  <a:cubicBezTo>
                    <a:pt x="736921" y="120656"/>
                    <a:pt x="742001" y="168916"/>
                    <a:pt x="740731" y="198126"/>
                  </a:cubicBezTo>
                  <a:cubicBezTo>
                    <a:pt x="739461" y="218446"/>
                    <a:pt x="735651" y="232416"/>
                    <a:pt x="724221" y="250196"/>
                  </a:cubicBezTo>
                  <a:cubicBezTo>
                    <a:pt x="708981" y="275596"/>
                    <a:pt x="678501" y="312426"/>
                    <a:pt x="648021" y="328936"/>
                  </a:cubicBezTo>
                  <a:cubicBezTo>
                    <a:pt x="617541" y="344176"/>
                    <a:pt x="569281" y="346716"/>
                    <a:pt x="540071" y="344176"/>
                  </a:cubicBezTo>
                  <a:cubicBezTo>
                    <a:pt x="518481" y="341636"/>
                    <a:pt x="504511" y="336556"/>
                    <a:pt x="488001" y="325126"/>
                  </a:cubicBezTo>
                  <a:cubicBezTo>
                    <a:pt x="463871" y="308616"/>
                    <a:pt x="428311" y="270516"/>
                    <a:pt x="414341" y="243846"/>
                  </a:cubicBezTo>
                  <a:cubicBezTo>
                    <a:pt x="404181" y="226066"/>
                    <a:pt x="402911" y="208286"/>
                    <a:pt x="400371" y="190506"/>
                  </a:cubicBezTo>
                  <a:cubicBezTo>
                    <a:pt x="399101" y="172726"/>
                    <a:pt x="399101" y="154946"/>
                    <a:pt x="405451" y="135896"/>
                  </a:cubicBezTo>
                  <a:cubicBezTo>
                    <a:pt x="414341" y="107956"/>
                    <a:pt x="442281" y="63506"/>
                    <a:pt x="463871" y="43186"/>
                  </a:cubicBezTo>
                  <a:cubicBezTo>
                    <a:pt x="477841" y="29216"/>
                    <a:pt x="494351" y="21596"/>
                    <a:pt x="510861" y="15246"/>
                  </a:cubicBezTo>
                  <a:cubicBezTo>
                    <a:pt x="529911" y="8896"/>
                    <a:pt x="550231" y="3816"/>
                    <a:pt x="570551" y="5086"/>
                  </a:cubicBezTo>
                  <a:cubicBezTo>
                    <a:pt x="595951" y="5086"/>
                    <a:pt x="626431" y="12706"/>
                    <a:pt x="650561" y="24136"/>
                  </a:cubicBezTo>
                  <a:cubicBezTo>
                    <a:pt x="673421" y="36836"/>
                    <a:pt x="696281" y="57156"/>
                    <a:pt x="711521" y="78746"/>
                  </a:cubicBezTo>
                  <a:cubicBezTo>
                    <a:pt x="726761" y="100336"/>
                    <a:pt x="736921" y="128276"/>
                    <a:pt x="740731" y="154946"/>
                  </a:cubicBezTo>
                  <a:cubicBezTo>
                    <a:pt x="743271" y="181616"/>
                    <a:pt x="740731" y="210826"/>
                    <a:pt x="730571" y="236226"/>
                  </a:cubicBezTo>
                  <a:cubicBezTo>
                    <a:pt x="721681" y="260356"/>
                    <a:pt x="703901" y="285756"/>
                    <a:pt x="684851" y="303536"/>
                  </a:cubicBezTo>
                  <a:cubicBezTo>
                    <a:pt x="664531" y="321316"/>
                    <a:pt x="640401" y="336556"/>
                    <a:pt x="612461" y="341636"/>
                  </a:cubicBezTo>
                  <a:cubicBezTo>
                    <a:pt x="575631" y="347986"/>
                    <a:pt x="536261" y="327666"/>
                    <a:pt x="482921" y="328936"/>
                  </a:cubicBezTo>
                  <a:cubicBezTo>
                    <a:pt x="399101" y="330206"/>
                    <a:pt x="234001" y="387356"/>
                    <a:pt x="155261" y="377196"/>
                  </a:cubicBezTo>
                  <a:cubicBezTo>
                    <a:pt x="109541" y="372116"/>
                    <a:pt x="75251" y="358146"/>
                    <a:pt x="49851" y="332746"/>
                  </a:cubicBezTo>
                  <a:cubicBezTo>
                    <a:pt x="24451" y="308616"/>
                    <a:pt x="2861" y="265436"/>
                    <a:pt x="321" y="229876"/>
                  </a:cubicBezTo>
                  <a:cubicBezTo>
                    <a:pt x="-2219" y="194316"/>
                    <a:pt x="10481" y="148596"/>
                    <a:pt x="32071" y="119386"/>
                  </a:cubicBezTo>
                  <a:cubicBezTo>
                    <a:pt x="52391" y="91446"/>
                    <a:pt x="127321" y="58426"/>
                    <a:pt x="127321" y="58426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371648" y="7154228"/>
            <a:ext cx="613410" cy="152400"/>
            <a:chOff x="0" y="0"/>
            <a:chExt cx="817880" cy="203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50800" y="50767"/>
              <a:ext cx="716703" cy="101936"/>
            </a:xfrm>
            <a:custGeom>
              <a:avLst/>
              <a:gdLst/>
              <a:ahLst/>
              <a:cxnLst/>
              <a:rect r="r" b="b" t="t" l="l"/>
              <a:pathLst>
                <a:path h="101936" w="716703">
                  <a:moveTo>
                    <a:pt x="715010" y="62263"/>
                  </a:moveTo>
                  <a:cubicBezTo>
                    <a:pt x="5080" y="52103"/>
                    <a:pt x="0" y="49563"/>
                    <a:pt x="0" y="44483"/>
                  </a:cubicBezTo>
                  <a:cubicBezTo>
                    <a:pt x="0" y="34323"/>
                    <a:pt x="41910" y="-1237"/>
                    <a:pt x="49530" y="33"/>
                  </a:cubicBezTo>
                  <a:cubicBezTo>
                    <a:pt x="53340" y="33"/>
                    <a:pt x="55880" y="5113"/>
                    <a:pt x="55880" y="8923"/>
                  </a:cubicBezTo>
                  <a:cubicBezTo>
                    <a:pt x="55880" y="17813"/>
                    <a:pt x="36830" y="43213"/>
                    <a:pt x="26670" y="49563"/>
                  </a:cubicBezTo>
                  <a:cubicBezTo>
                    <a:pt x="19050" y="53373"/>
                    <a:pt x="3810" y="52103"/>
                    <a:pt x="3810" y="53373"/>
                  </a:cubicBezTo>
                  <a:cubicBezTo>
                    <a:pt x="3810" y="54643"/>
                    <a:pt x="25400" y="50833"/>
                    <a:pt x="36830" y="54643"/>
                  </a:cubicBezTo>
                  <a:cubicBezTo>
                    <a:pt x="54610" y="59723"/>
                    <a:pt x="90170" y="80043"/>
                    <a:pt x="92710" y="90203"/>
                  </a:cubicBezTo>
                  <a:cubicBezTo>
                    <a:pt x="93980" y="94013"/>
                    <a:pt x="92710" y="100363"/>
                    <a:pt x="88900" y="101633"/>
                  </a:cubicBezTo>
                  <a:cubicBezTo>
                    <a:pt x="78740" y="105443"/>
                    <a:pt x="7620" y="72423"/>
                    <a:pt x="3810" y="53373"/>
                  </a:cubicBezTo>
                  <a:cubicBezTo>
                    <a:pt x="1270" y="36863"/>
                    <a:pt x="41910" y="-1237"/>
                    <a:pt x="49530" y="33"/>
                  </a:cubicBezTo>
                  <a:cubicBezTo>
                    <a:pt x="53340" y="33"/>
                    <a:pt x="55880" y="6383"/>
                    <a:pt x="54610" y="10193"/>
                  </a:cubicBezTo>
                  <a:cubicBezTo>
                    <a:pt x="53340" y="20353"/>
                    <a:pt x="10160" y="57183"/>
                    <a:pt x="5080" y="54643"/>
                  </a:cubicBezTo>
                  <a:cubicBezTo>
                    <a:pt x="3810" y="53373"/>
                    <a:pt x="2540" y="45753"/>
                    <a:pt x="5080" y="41943"/>
                  </a:cubicBezTo>
                  <a:cubicBezTo>
                    <a:pt x="26670" y="21623"/>
                    <a:pt x="302260" y="41943"/>
                    <a:pt x="429260" y="43213"/>
                  </a:cubicBezTo>
                  <a:cubicBezTo>
                    <a:pt x="534670" y="44483"/>
                    <a:pt x="698500" y="33053"/>
                    <a:pt x="715010" y="49563"/>
                  </a:cubicBezTo>
                  <a:cubicBezTo>
                    <a:pt x="718820" y="53373"/>
                    <a:pt x="715010" y="62263"/>
                    <a:pt x="715010" y="62263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sp>
        <p:nvSpPr>
          <p:cNvPr id="54" name="TextBox 53"/>
          <p:cNvSpPr txBox="1"/>
          <p:nvPr/>
        </p:nvSpPr>
        <p:spPr>
          <a:xfrm>
            <a:off x="1691640" y="2743200"/>
            <a:ext cx="3931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0000"/>
                </a:solidFill>
                <a:latin typeface="Tomorrow Bold"/>
              </a:rPr>
              <a:t>Frontend</a:t>
            </a:r>
          </a:p>
          <a:p>
            <a:pPr algn="l"/>
            <a:r>
              <a:rPr b="0" sz="1300">
                <a:solidFill>
                  <a:srgbClr val="000000"/>
                </a:solidFill>
                <a:latin typeface="Tomorrow"/>
              </a:rPr>
              <a:t>React 19 · TypeScript · Vite</a:t>
            </a:r>
          </a:p>
          <a:p>
            <a:pPr algn="l"/>
            <a:r>
              <a:rPr b="1" sz="1500">
                <a:solidFill>
                  <a:srgbClr val="000000"/>
                </a:solidFill>
                <a:latin typeface="Tomorrow Bold"/>
              </a:rPr>
              <a:t>Backend</a:t>
            </a:r>
          </a:p>
          <a:p>
            <a:pPr algn="l"/>
            <a:r>
              <a:rPr b="0" sz="1300">
                <a:solidFill>
                  <a:srgbClr val="000000"/>
                </a:solidFill>
                <a:latin typeface="Tomorrow"/>
              </a:rPr>
              <a:t>Spring Boot 3 · PostgreSQL · Flyway</a:t>
            </a:r>
          </a:p>
          <a:p>
            <a:pPr algn="l"/>
            <a:r>
              <a:rPr b="1" sz="1500">
                <a:solidFill>
                  <a:srgbClr val="000000"/>
                </a:solidFill>
                <a:latin typeface="Tomorrow Bold"/>
              </a:rPr>
              <a:t>Evidence Layer</a:t>
            </a:r>
          </a:p>
          <a:p>
            <a:pPr algn="l"/>
            <a:r>
              <a:rPr b="0" sz="1300">
                <a:solidFill>
                  <a:srgbClr val="000000"/>
                </a:solidFill>
                <a:latin typeface="Tomorrow"/>
              </a:rPr>
              <a:t>IPFS / Pinata (live)</a:t>
            </a:r>
          </a:p>
          <a:p>
            <a:pPr algn="l"/>
            <a:r>
              <a:rPr b="1" sz="1500">
                <a:solidFill>
                  <a:srgbClr val="000000"/>
                </a:solidFill>
                <a:latin typeface="Tomorrow Bold"/>
              </a:rPr>
              <a:t>Mobile</a:t>
            </a:r>
          </a:p>
          <a:p>
            <a:pPr algn="l"/>
            <a:r>
              <a:rPr b="0" sz="1300">
                <a:solidFill>
                  <a:srgbClr val="000000"/>
                </a:solidFill>
                <a:latin typeface="Tomorrow"/>
              </a:rPr>
              <a:t>Flutter — camera, GPS, EXIF geotag</a:t>
            </a:r>
          </a:p>
          <a:p>
            <a:pPr algn="l"/>
            <a:r>
              <a:rPr b="1" sz="1500">
                <a:solidFill>
                  <a:srgbClr val="000000"/>
                </a:solidFill>
                <a:latin typeface="Tomorrow Bold"/>
              </a:rPr>
              <a:t>Planned</a:t>
            </a:r>
          </a:p>
          <a:p>
            <a:pPr algn="l"/>
            <a:r>
              <a:rPr b="0" sz="1300">
                <a:solidFill>
                  <a:srgbClr val="000000"/>
                </a:solidFill>
                <a:latin typeface="Tomorrow"/>
              </a:rPr>
              <a:t>Hyperledger Fabric · Python AI microservice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79" y="2926080"/>
            <a:ext cx="4480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0000"/>
                </a:solidFill>
                <a:latin typeface="Tomorrow Bold"/>
              </a:rPr>
              <a:t>Methodology &amp; Process Flow</a:t>
            </a:r>
          </a:p>
          <a:p>
            <a:pPr algn="l"/>
            <a:r>
              <a:rPr b="0" sz="1250">
                <a:solidFill>
                  <a:srgbClr val="000000"/>
                </a:solidFill>
                <a:latin typeface="Tomorrow"/>
              </a:rPr>
              <a:t>1. Ingest MPLADS work &amp; payment data</a:t>
            </a:r>
          </a:p>
          <a:p>
            <a:pPr algn="l"/>
            <a:r>
              <a:rPr b="0" sz="1250">
                <a:solidFill>
                  <a:srgbClr val="000000"/>
                </a:solidFill>
                <a:latin typeface="Tomorrow"/>
              </a:rPr>
              <a:t>2. Normalize &amp; de-duplicate records</a:t>
            </a:r>
          </a:p>
          <a:p>
            <a:pPr algn="l"/>
            <a:r>
              <a:rPr b="0" sz="1250">
                <a:solidFill>
                  <a:srgbClr val="000000"/>
                </a:solidFill>
                <a:latin typeface="Tomorrow"/>
              </a:rPr>
              <a:t>3. Weighted statistical risk scoring</a:t>
            </a:r>
          </a:p>
          <a:p>
            <a:pPr algn="l"/>
            <a:r>
              <a:rPr b="0" sz="1250">
                <a:solidFill>
                  <a:srgbClr val="000000"/>
                </a:solidFill>
                <a:latin typeface="Tomorrow"/>
              </a:rPr>
              <a:t>4. Assign field inspection to an officer</a:t>
            </a:r>
          </a:p>
          <a:p>
            <a:pPr algn="l"/>
            <a:r>
              <a:rPr b="0" sz="1250">
                <a:solidFill>
                  <a:srgbClr val="000000"/>
                </a:solidFill>
                <a:latin typeface="Tomorrow"/>
              </a:rPr>
              <a:t>5. Flutter capture — GPS + EXIF geotag</a:t>
            </a:r>
          </a:p>
          <a:p>
            <a:pPr algn="l"/>
            <a:r>
              <a:rPr b="0" sz="1250">
                <a:solidFill>
                  <a:srgbClr val="000000"/>
                </a:solidFill>
                <a:latin typeface="Tomorrow"/>
              </a:rPr>
              <a:t>6. Evidence pinned to IPFS</a:t>
            </a:r>
          </a:p>
          <a:p>
            <a:pPr algn="l"/>
            <a:r>
              <a:rPr b="0" sz="1250">
                <a:solidFill>
                  <a:srgbClr val="000000"/>
                </a:solidFill>
                <a:latin typeface="Tomorrow"/>
              </a:rPr>
              <a:t>7. Immutable audit trail (Fabric — planned)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710160" y="2926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0000"/>
                </a:solidFill>
                <a:latin typeface="Tomorrow Bold"/>
              </a:rPr>
              <a:t>LIVE IN PROTOTYPE</a:t>
            </a:r>
          </a:p>
          <a:p>
            <a:pPr algn="l"/>
            <a:r>
              <a:rPr b="0" sz="1200">
                <a:solidFill>
                  <a:srgbClr val="000000"/>
                </a:solidFill>
                <a:latin typeface="Tomorrow"/>
              </a:rPr>
              <a:t>Weighted explainable risk model</a:t>
            </a:r>
          </a:p>
          <a:p>
            <a:pPr algn="l"/>
            <a:r>
              <a:rPr b="0" sz="1200">
                <a:solidFill>
                  <a:srgbClr val="000000"/>
                </a:solidFill>
                <a:latin typeface="Tomorrow"/>
              </a:rPr>
              <a:t>Grounded AI assistant</a:t>
            </a:r>
          </a:p>
          <a:p>
            <a:pPr algn="l"/>
            <a:r>
              <a:rPr b="0" sz="1200">
                <a:solidFill>
                  <a:srgbClr val="000000"/>
                </a:solidFill>
                <a:latin typeface="Tomorrow"/>
              </a:rPr>
              <a:t>Fund-utilisation analytics</a:t>
            </a:r>
          </a:p>
          <a:p>
            <a:pPr algn="l"/>
            <a:r>
              <a:rPr b="0" sz="1200">
                <a:solidFill>
                  <a:srgbClr val="000000"/>
                </a:solidFill>
                <a:latin typeface="Tomorrow"/>
              </a:rPr>
              <a:t>Live IPFS evidence fetch · RBAC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710160" y="49377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0000"/>
                </a:solidFill>
                <a:latin typeface="Tomorrow Bold"/>
              </a:rPr>
              <a:t>ARCHITECTED — NEXT MILESTONE</a:t>
            </a:r>
          </a:p>
          <a:p>
            <a:pPr algn="l"/>
            <a:r>
              <a:rPr b="0" sz="1200">
                <a:solidFill>
                  <a:srgbClr val="000000"/>
                </a:solidFill>
                <a:latin typeface="Tomorrow"/>
              </a:rPr>
              <a:t>Vendor/entity cartel graph (HHI)</a:t>
            </a:r>
          </a:p>
          <a:p>
            <a:pPr algn="l"/>
            <a:r>
              <a:rPr b="0" sz="1200">
                <a:solidFill>
                  <a:srgbClr val="000000"/>
                </a:solidFill>
                <a:latin typeface="Tomorrow"/>
              </a:rPr>
              <a:t>Photo forensics: dHash duplicate + ELA tamper check</a:t>
            </a:r>
          </a:p>
          <a:p>
            <a:pPr algn="l"/>
            <a:r>
              <a:rPr b="0" sz="1200">
                <a:solidFill>
                  <a:srgbClr val="000000"/>
                </a:solidFill>
                <a:latin typeface="Tomorrow"/>
              </a:rPr>
              <a:t>Multi-source GPS spoofing defense</a:t>
            </a:r>
          </a:p>
          <a:p>
            <a:pPr algn="l"/>
            <a:r>
              <a:rPr b="0" sz="1200">
                <a:solidFill>
                  <a:srgbClr val="000000"/>
                </a:solidFill>
                <a:latin typeface="Tomorrow"/>
              </a:rPr>
              <a:t>Fabric anchoring · escrow-style fund gating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</a:t>
              </a: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eam MetaMinds_404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554516" cy="170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</a:t>
              </a: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etaMinds_404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26163" y="1714500"/>
            <a:ext cx="7920752" cy="7543800"/>
            <a:chOff x="0" y="0"/>
            <a:chExt cx="2086124" cy="19868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86124" cy="1986844"/>
            </a:xfrm>
            <a:custGeom>
              <a:avLst/>
              <a:gdLst/>
              <a:ahLst/>
              <a:cxnLst/>
              <a:rect r="r" b="b" t="t" l="l"/>
              <a:pathLst>
                <a:path h="1986844" w="2086124">
                  <a:moveTo>
                    <a:pt x="49849" y="0"/>
                  </a:moveTo>
                  <a:lnTo>
                    <a:pt x="2036276" y="0"/>
                  </a:lnTo>
                  <a:cubicBezTo>
                    <a:pt x="2049496" y="0"/>
                    <a:pt x="2062175" y="5252"/>
                    <a:pt x="2071524" y="14600"/>
                  </a:cubicBezTo>
                  <a:cubicBezTo>
                    <a:pt x="2080872" y="23949"/>
                    <a:pt x="2086124" y="36628"/>
                    <a:pt x="2086124" y="49849"/>
                  </a:cubicBezTo>
                  <a:lnTo>
                    <a:pt x="2086124" y="1936996"/>
                  </a:lnTo>
                  <a:cubicBezTo>
                    <a:pt x="2086124" y="1950217"/>
                    <a:pt x="2080872" y="1962896"/>
                    <a:pt x="2071524" y="1972244"/>
                  </a:cubicBezTo>
                  <a:cubicBezTo>
                    <a:pt x="2062175" y="1981593"/>
                    <a:pt x="2049496" y="1986844"/>
                    <a:pt x="2036276" y="1986844"/>
                  </a:cubicBezTo>
                  <a:lnTo>
                    <a:pt x="49849" y="1986844"/>
                  </a:lnTo>
                  <a:cubicBezTo>
                    <a:pt x="22318" y="1986844"/>
                    <a:pt x="0" y="1964526"/>
                    <a:pt x="0" y="1936996"/>
                  </a:cubicBezTo>
                  <a:lnTo>
                    <a:pt x="0" y="49849"/>
                  </a:lnTo>
                  <a:cubicBezTo>
                    <a:pt x="0" y="36628"/>
                    <a:pt x="5252" y="23949"/>
                    <a:pt x="14600" y="14600"/>
                  </a:cubicBezTo>
                  <a:cubicBezTo>
                    <a:pt x="23949" y="5252"/>
                    <a:pt x="36628" y="0"/>
                    <a:pt x="49849" y="0"/>
                  </a:cubicBezTo>
                  <a:close/>
                </a:path>
              </a:pathLst>
            </a:custGeom>
            <a:solidFill>
              <a:srgbClr val="FDFCF9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086124" cy="2034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458873" y="1714500"/>
            <a:ext cx="9586030" cy="7543800"/>
            <a:chOff x="0" y="0"/>
            <a:chExt cx="2524716" cy="19868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24716" cy="1986844"/>
            </a:xfrm>
            <a:custGeom>
              <a:avLst/>
              <a:gdLst/>
              <a:ahLst/>
              <a:cxnLst/>
              <a:rect r="r" b="b" t="t" l="l"/>
              <a:pathLst>
                <a:path h="1986844" w="2524716">
                  <a:moveTo>
                    <a:pt x="41189" y="0"/>
                  </a:moveTo>
                  <a:lnTo>
                    <a:pt x="2483527" y="0"/>
                  </a:lnTo>
                  <a:cubicBezTo>
                    <a:pt x="2506275" y="0"/>
                    <a:pt x="2524716" y="18441"/>
                    <a:pt x="2524716" y="41189"/>
                  </a:cubicBezTo>
                  <a:lnTo>
                    <a:pt x="2524716" y="1945655"/>
                  </a:lnTo>
                  <a:cubicBezTo>
                    <a:pt x="2524716" y="1968403"/>
                    <a:pt x="2506275" y="1986844"/>
                    <a:pt x="2483527" y="1986844"/>
                  </a:cubicBezTo>
                  <a:lnTo>
                    <a:pt x="41189" y="1986844"/>
                  </a:lnTo>
                  <a:cubicBezTo>
                    <a:pt x="18441" y="1986844"/>
                    <a:pt x="0" y="1968403"/>
                    <a:pt x="0" y="1945655"/>
                  </a:cubicBezTo>
                  <a:lnTo>
                    <a:pt x="0" y="41189"/>
                  </a:lnTo>
                  <a:cubicBezTo>
                    <a:pt x="0" y="18441"/>
                    <a:pt x="18441" y="0"/>
                    <a:pt x="41189" y="0"/>
                  </a:cubicBezTo>
                  <a:close/>
                </a:path>
              </a:pathLst>
            </a:custGeom>
            <a:solidFill>
              <a:srgbClr val="FDFCF9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2524716" cy="2034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8661906" y="2621257"/>
            <a:ext cx="4375363" cy="1850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9"/>
              </a:lnSpc>
              <a:spcBef>
                <a:spcPct val="0"/>
              </a:spcBef>
            </a:pPr>
            <a:r>
              <a:rPr lang="en-US" b="true" sz="2199" spc="-10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AI False Positives</a:t>
            </a:r>
          </a:p>
          <a:p>
            <a:pPr algn="ctr">
              <a:lnSpc>
                <a:spcPts val="2991"/>
              </a:lnSpc>
              <a:spcBef>
                <a:spcPct val="0"/>
              </a:spcBef>
            </a:pPr>
            <a:r>
              <a:rPr lang="en-US" b="true" sz="2199" spc="-1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 </a:t>
            </a:r>
            <a:r>
              <a:rPr lang="en-US" sz="2199" spc="-11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Legitimate variations in expenditure or project progress may sometimes appear as anomalies.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592775" y="4773244"/>
            <a:ext cx="4513625" cy="1378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9"/>
              </a:lnSpc>
              <a:spcBef>
                <a:spcPct val="0"/>
              </a:spcBef>
            </a:pPr>
            <a:r>
              <a:rPr lang="en-US" b="true" sz="1999" spc="-10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Blockchain Scalability</a:t>
            </a:r>
          </a:p>
          <a:p>
            <a:pPr algn="ctr">
              <a:lnSpc>
                <a:spcPts val="2719"/>
              </a:lnSpc>
              <a:spcBef>
                <a:spcPct val="0"/>
              </a:spcBef>
            </a:pPr>
            <a:r>
              <a:rPr lang="en-US" b="true" sz="1999" spc="-10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 </a:t>
            </a:r>
            <a:r>
              <a:rPr lang="en-US" sz="1999" spc="-1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Large inspection photographs and evidence files are impractical for direct on-chain storage.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665084" y="4773244"/>
            <a:ext cx="4277679" cy="103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9"/>
              </a:lnSpc>
              <a:spcBef>
                <a:spcPct val="0"/>
              </a:spcBef>
            </a:pPr>
          </a:p>
          <a:p>
            <a:pPr algn="ctr">
              <a:lnSpc>
                <a:spcPts val="2719"/>
              </a:lnSpc>
              <a:spcBef>
                <a:spcPct val="0"/>
              </a:spcBef>
            </a:pPr>
            <a:r>
              <a:rPr lang="en-US" sz="1999" spc="-1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IPFS-based evidence storage with CID-linked blockchain records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793332" y="6722212"/>
            <a:ext cx="4375363" cy="1378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7"/>
              </a:lnSpc>
              <a:spcBef>
                <a:spcPct val="0"/>
              </a:spcBef>
            </a:pPr>
            <a:r>
              <a:rPr lang="en-US" b="true" sz="1999" spc="-9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Multi-Authority Coordination</a:t>
            </a:r>
          </a:p>
          <a:p>
            <a:pPr algn="ctr">
              <a:lnSpc>
                <a:spcPts val="2719"/>
              </a:lnSpc>
              <a:spcBef>
                <a:spcPct val="0"/>
              </a:spcBef>
            </a:pPr>
            <a:r>
              <a:rPr lang="en-US" sz="1999" spc="-1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Different MPLADS stakeholders require controlled access according to their roles and responsibilities.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441765" y="6885356"/>
            <a:ext cx="4724317" cy="71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5"/>
              </a:lnSpc>
              <a:spcBef>
                <a:spcPct val="0"/>
              </a:spcBef>
            </a:pPr>
            <a:r>
              <a:rPr lang="en-US" sz="2099" spc="-1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Permissioned blockchain with role based access management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4418436">
            <a:off x="12910600" y="4358086"/>
            <a:ext cx="597568" cy="1313337"/>
          </a:xfrm>
          <a:custGeom>
            <a:avLst/>
            <a:gdLst/>
            <a:ahLst/>
            <a:cxnLst/>
            <a:rect r="r" b="b" t="t" l="l"/>
            <a:pathLst>
              <a:path h="1313337" w="597568">
                <a:moveTo>
                  <a:pt x="0" y="0"/>
                </a:moveTo>
                <a:lnTo>
                  <a:pt x="597569" y="0"/>
                </a:lnTo>
                <a:lnTo>
                  <a:pt x="597569" y="1313337"/>
                </a:lnTo>
                <a:lnTo>
                  <a:pt x="0" y="13133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665084" y="2926469"/>
            <a:ext cx="4217889" cy="782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7"/>
              </a:lnSpc>
              <a:spcBef>
                <a:spcPct val="0"/>
              </a:spcBef>
            </a:pPr>
            <a:r>
              <a:rPr lang="en-US" sz="2299" spc="-12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Explainable risk scores with human in the loop validation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4474794">
            <a:off x="12953104" y="6160793"/>
            <a:ext cx="597568" cy="1313337"/>
          </a:xfrm>
          <a:custGeom>
            <a:avLst/>
            <a:gdLst/>
            <a:ahLst/>
            <a:cxnLst/>
            <a:rect r="r" b="b" t="t" l="l"/>
            <a:pathLst>
              <a:path h="1313337" w="597568">
                <a:moveTo>
                  <a:pt x="0" y="0"/>
                </a:moveTo>
                <a:lnTo>
                  <a:pt x="597568" y="0"/>
                </a:lnTo>
                <a:lnTo>
                  <a:pt x="597568" y="1313337"/>
                </a:lnTo>
                <a:lnTo>
                  <a:pt x="0" y="13133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4418436">
            <a:off x="12869910" y="2212996"/>
            <a:ext cx="597568" cy="1313337"/>
          </a:xfrm>
          <a:custGeom>
            <a:avLst/>
            <a:gdLst/>
            <a:ahLst/>
            <a:cxnLst/>
            <a:rect r="r" b="b" t="t" l="l"/>
            <a:pathLst>
              <a:path h="1313337" w="597568">
                <a:moveTo>
                  <a:pt x="0" y="0"/>
                </a:moveTo>
                <a:lnTo>
                  <a:pt x="597569" y="0"/>
                </a:lnTo>
                <a:lnTo>
                  <a:pt x="597569" y="1313337"/>
                </a:lnTo>
                <a:lnTo>
                  <a:pt x="0" y="13133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758468" y="2053149"/>
            <a:ext cx="1633031" cy="1633031"/>
          </a:xfrm>
          <a:custGeom>
            <a:avLst/>
            <a:gdLst/>
            <a:ahLst/>
            <a:cxnLst/>
            <a:rect r="r" b="b" t="t" l="l"/>
            <a:pathLst>
              <a:path h="1633031" w="1633031">
                <a:moveTo>
                  <a:pt x="0" y="0"/>
                </a:moveTo>
                <a:lnTo>
                  <a:pt x="1633031" y="0"/>
                </a:lnTo>
                <a:lnTo>
                  <a:pt x="1633031" y="1633031"/>
                </a:lnTo>
                <a:lnTo>
                  <a:pt x="0" y="16330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270257" y="3657474"/>
            <a:ext cx="1357281" cy="1357281"/>
          </a:xfrm>
          <a:custGeom>
            <a:avLst/>
            <a:gdLst/>
            <a:ahLst/>
            <a:cxnLst/>
            <a:rect r="r" b="b" t="t" l="l"/>
            <a:pathLst>
              <a:path h="1357281" w="1357281">
                <a:moveTo>
                  <a:pt x="0" y="0"/>
                </a:moveTo>
                <a:lnTo>
                  <a:pt x="1357281" y="0"/>
                </a:lnTo>
                <a:lnTo>
                  <a:pt x="1357281" y="1357280"/>
                </a:lnTo>
                <a:lnTo>
                  <a:pt x="0" y="13572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073510" y="5267325"/>
            <a:ext cx="1550137" cy="1550137"/>
          </a:xfrm>
          <a:custGeom>
            <a:avLst/>
            <a:gdLst/>
            <a:ahLst/>
            <a:cxnLst/>
            <a:rect r="r" b="b" t="t" l="l"/>
            <a:pathLst>
              <a:path h="1550137" w="1550137">
                <a:moveTo>
                  <a:pt x="0" y="0"/>
                </a:moveTo>
                <a:lnTo>
                  <a:pt x="1550136" y="0"/>
                </a:lnTo>
                <a:lnTo>
                  <a:pt x="1550136" y="1550137"/>
                </a:lnTo>
                <a:lnTo>
                  <a:pt x="0" y="15501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6117299" y="6923456"/>
            <a:ext cx="1663197" cy="1760217"/>
          </a:xfrm>
          <a:custGeom>
            <a:avLst/>
            <a:gdLst/>
            <a:ahLst/>
            <a:cxnLst/>
            <a:rect r="r" b="b" t="t" l="l"/>
            <a:pathLst>
              <a:path h="1760217" w="1663197">
                <a:moveTo>
                  <a:pt x="0" y="0"/>
                </a:moveTo>
                <a:lnTo>
                  <a:pt x="1663197" y="0"/>
                </a:lnTo>
                <a:lnTo>
                  <a:pt x="1663197" y="1760217"/>
                </a:lnTo>
                <a:lnTo>
                  <a:pt x="0" y="17602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0" y="1657350"/>
            <a:ext cx="7920752" cy="493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2"/>
              </a:lnSpc>
              <a:spcBef>
                <a:spcPct val="0"/>
              </a:spcBef>
            </a:pPr>
            <a:r>
              <a:rPr lang="en-US" b="true" sz="2899" spc="-15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FEASIBILITY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497173" y="1868112"/>
            <a:ext cx="8461760" cy="442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4"/>
              </a:lnSpc>
              <a:spcBef>
                <a:spcPct val="0"/>
              </a:spcBef>
            </a:pPr>
            <a:r>
              <a:rPr lang="en-US" b="true" sz="2599" spc="-13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POTENTIAL CHALLENGES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981013" y="1885135"/>
            <a:ext cx="9586030" cy="425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8"/>
              </a:lnSpc>
              <a:spcBef>
                <a:spcPct val="0"/>
              </a:spcBef>
            </a:pPr>
            <a:r>
              <a:rPr lang="en-US" b="true" sz="2499" spc="-13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STRATEGIES TO OVERCOME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75612" y="6722212"/>
            <a:ext cx="5648343" cy="2064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9"/>
              </a:lnSpc>
              <a:spcBef>
                <a:spcPct val="0"/>
              </a:spcBef>
            </a:pPr>
          </a:p>
          <a:p>
            <a:pPr algn="ctr">
              <a:lnSpc>
                <a:spcPts val="2719"/>
              </a:lnSpc>
              <a:spcBef>
                <a:spcPct val="0"/>
              </a:spcBef>
            </a:pPr>
          </a:p>
          <a:p>
            <a:pPr algn="ctr">
              <a:lnSpc>
                <a:spcPts val="2719"/>
              </a:lnSpc>
              <a:spcBef>
                <a:spcPct val="0"/>
              </a:spcBef>
            </a:pPr>
            <a:r>
              <a:rPr lang="en-US" b="true" sz="1999" spc="-10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Secure Digital Infrastructure:</a:t>
            </a:r>
          </a:p>
          <a:p>
            <a:pPr algn="ctr">
              <a:lnSpc>
                <a:spcPts val="2719"/>
              </a:lnSpc>
              <a:spcBef>
                <a:spcPct val="0"/>
              </a:spcBef>
            </a:pPr>
            <a:r>
              <a:rPr lang="en-US" sz="1999" spc="-1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IPFS and a permissioned Hyperledger Fabric network can provide secure evidence storage and an auditable project history.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360828" y="2329763"/>
            <a:ext cx="5559924" cy="1378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7"/>
              </a:lnSpc>
              <a:spcBef>
                <a:spcPct val="0"/>
              </a:spcBef>
            </a:pPr>
            <a:r>
              <a:rPr lang="en-US" b="true" sz="1999" spc="-9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Existing MPLADS Data:</a:t>
            </a:r>
          </a:p>
          <a:p>
            <a:pPr algn="ctr">
              <a:lnSpc>
                <a:spcPts val="2719"/>
              </a:lnSpc>
              <a:spcBef>
                <a:spcPct val="0"/>
              </a:spcBef>
            </a:pPr>
            <a:r>
              <a:rPr lang="en-US" b="true" sz="1999" spc="-10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 </a:t>
            </a:r>
            <a:r>
              <a:rPr lang="en-US" sz="1999" spc="-1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Uses available MPLADS project, sanction, expenditure and progress data for AI-driven analysis.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26163" y="3764813"/>
            <a:ext cx="5388610" cy="1378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9"/>
              </a:lnSpc>
              <a:spcBef>
                <a:spcPct val="0"/>
              </a:spcBef>
            </a:pPr>
            <a:r>
              <a:rPr lang="en-US" b="true" sz="1999" spc="-10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Scalable AI Analytics:</a:t>
            </a:r>
          </a:p>
          <a:p>
            <a:pPr algn="ctr">
              <a:lnSpc>
                <a:spcPts val="2719"/>
              </a:lnSpc>
              <a:spcBef>
                <a:spcPct val="0"/>
              </a:spcBef>
            </a:pPr>
            <a:r>
              <a:rPr lang="en-US" b="true" sz="1999" spc="-10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 </a:t>
            </a:r>
            <a:r>
              <a:rPr lang="en-US" sz="1999" spc="-1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ML and rule-based models can analyse large volumes of projects and generate risk scores.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020468" y="5438775"/>
            <a:ext cx="5226447" cy="1378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9"/>
              </a:lnSpc>
              <a:spcBef>
                <a:spcPct val="0"/>
              </a:spcBef>
            </a:pPr>
            <a:r>
              <a:rPr lang="en-US" b="true" sz="1999" spc="-10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Mobile Field Verification:</a:t>
            </a:r>
          </a:p>
          <a:p>
            <a:pPr algn="ctr">
              <a:lnSpc>
                <a:spcPts val="2719"/>
              </a:lnSpc>
              <a:spcBef>
                <a:spcPct val="0"/>
              </a:spcBef>
            </a:pPr>
            <a:r>
              <a:rPr lang="en-US" b="true" sz="1999" spc="-10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 </a:t>
            </a:r>
            <a:r>
              <a:rPr lang="en-US" sz="1999" spc="-1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Flutter-based mobile app enables officers to verify project status and submit structured evidence.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</a:t>
              </a: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eam MetaMinds_404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554516" cy="170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</a:t>
              </a: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etaMinds_404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26163" y="1714500"/>
            <a:ext cx="8454780" cy="7543800"/>
            <a:chOff x="0" y="0"/>
            <a:chExt cx="2226773" cy="19868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26773" cy="1986844"/>
            </a:xfrm>
            <a:custGeom>
              <a:avLst/>
              <a:gdLst/>
              <a:ahLst/>
              <a:cxnLst/>
              <a:rect r="r" b="b" t="t" l="l"/>
              <a:pathLst>
                <a:path h="1986844" w="2226773">
                  <a:moveTo>
                    <a:pt x="46700" y="0"/>
                  </a:moveTo>
                  <a:lnTo>
                    <a:pt x="2180074" y="0"/>
                  </a:lnTo>
                  <a:cubicBezTo>
                    <a:pt x="2192459" y="0"/>
                    <a:pt x="2204337" y="4920"/>
                    <a:pt x="2213095" y="13678"/>
                  </a:cubicBezTo>
                  <a:cubicBezTo>
                    <a:pt x="2221853" y="22436"/>
                    <a:pt x="2226773" y="34314"/>
                    <a:pt x="2226773" y="46700"/>
                  </a:cubicBezTo>
                  <a:lnTo>
                    <a:pt x="2226773" y="1940145"/>
                  </a:lnTo>
                  <a:cubicBezTo>
                    <a:pt x="2226773" y="1952530"/>
                    <a:pt x="2221853" y="1964408"/>
                    <a:pt x="2213095" y="1973166"/>
                  </a:cubicBezTo>
                  <a:cubicBezTo>
                    <a:pt x="2204337" y="1981924"/>
                    <a:pt x="2192459" y="1986844"/>
                    <a:pt x="2180074" y="1986844"/>
                  </a:cubicBezTo>
                  <a:lnTo>
                    <a:pt x="46700" y="1986844"/>
                  </a:lnTo>
                  <a:cubicBezTo>
                    <a:pt x="34314" y="1986844"/>
                    <a:pt x="22436" y="1981924"/>
                    <a:pt x="13678" y="1973166"/>
                  </a:cubicBezTo>
                  <a:cubicBezTo>
                    <a:pt x="4920" y="1964408"/>
                    <a:pt x="0" y="1952530"/>
                    <a:pt x="0" y="1940145"/>
                  </a:cubicBezTo>
                  <a:lnTo>
                    <a:pt x="0" y="46700"/>
                  </a:lnTo>
                  <a:cubicBezTo>
                    <a:pt x="0" y="34314"/>
                    <a:pt x="4920" y="22436"/>
                    <a:pt x="13678" y="13678"/>
                  </a:cubicBezTo>
                  <a:cubicBezTo>
                    <a:pt x="22436" y="4920"/>
                    <a:pt x="34314" y="0"/>
                    <a:pt x="46700" y="0"/>
                  </a:cubicBezTo>
                  <a:close/>
                </a:path>
              </a:pathLst>
            </a:custGeom>
            <a:solidFill>
              <a:srgbClr val="FDFCF9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226773" cy="2034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9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326163" y="2391980"/>
            <a:ext cx="8430088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9928871" y="1727139"/>
            <a:ext cx="1132394" cy="1132394"/>
          </a:xfrm>
          <a:custGeom>
            <a:avLst/>
            <a:gdLst/>
            <a:ahLst/>
            <a:cxnLst/>
            <a:rect r="r" b="b" t="t" l="l"/>
            <a:pathLst>
              <a:path h="1132394" w="1132394">
                <a:moveTo>
                  <a:pt x="0" y="0"/>
                </a:moveTo>
                <a:lnTo>
                  <a:pt x="1132394" y="0"/>
                </a:lnTo>
                <a:lnTo>
                  <a:pt x="1132394" y="1132393"/>
                </a:lnTo>
                <a:lnTo>
                  <a:pt x="0" y="11323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846072" y="3339058"/>
            <a:ext cx="1820722" cy="1693012"/>
          </a:xfrm>
          <a:custGeom>
            <a:avLst/>
            <a:gdLst/>
            <a:ahLst/>
            <a:cxnLst/>
            <a:rect r="r" b="b" t="t" l="l"/>
            <a:pathLst>
              <a:path h="1693012" w="1820722">
                <a:moveTo>
                  <a:pt x="0" y="0"/>
                </a:moveTo>
                <a:lnTo>
                  <a:pt x="1820722" y="0"/>
                </a:lnTo>
                <a:lnTo>
                  <a:pt x="1820722" y="1693012"/>
                </a:lnTo>
                <a:lnTo>
                  <a:pt x="0" y="16930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771" r="0" b="-3771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709831" y="5032070"/>
            <a:ext cx="1570474" cy="1570474"/>
          </a:xfrm>
          <a:custGeom>
            <a:avLst/>
            <a:gdLst/>
            <a:ahLst/>
            <a:cxnLst/>
            <a:rect r="r" b="b" t="t" l="l"/>
            <a:pathLst>
              <a:path h="1570474" w="1570474">
                <a:moveTo>
                  <a:pt x="0" y="0"/>
                </a:moveTo>
                <a:lnTo>
                  <a:pt x="1570474" y="0"/>
                </a:lnTo>
                <a:lnTo>
                  <a:pt x="1570474" y="1570474"/>
                </a:lnTo>
                <a:lnTo>
                  <a:pt x="0" y="15704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6462291" y="7274738"/>
            <a:ext cx="1356685" cy="1356685"/>
          </a:xfrm>
          <a:custGeom>
            <a:avLst/>
            <a:gdLst/>
            <a:ahLst/>
            <a:cxnLst/>
            <a:rect r="r" b="b" t="t" l="l"/>
            <a:pathLst>
              <a:path h="1356685" w="1356685">
                <a:moveTo>
                  <a:pt x="0" y="0"/>
                </a:moveTo>
                <a:lnTo>
                  <a:pt x="1356685" y="0"/>
                </a:lnTo>
                <a:lnTo>
                  <a:pt x="1356685" y="1356685"/>
                </a:lnTo>
                <a:lnTo>
                  <a:pt x="0" y="13566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26163" y="1655982"/>
            <a:ext cx="8454780" cy="63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6"/>
              </a:lnSpc>
              <a:spcBef>
                <a:spcPct val="0"/>
              </a:spcBef>
            </a:pPr>
            <a:r>
              <a:rPr lang="en-US" b="true" sz="3799" spc="-19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IMPACT &amp; BENEFITS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97832" y="2722435"/>
            <a:ext cx="7911442" cy="5708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12"/>
              </a:lnSpc>
              <a:spcBef>
                <a:spcPct val="0"/>
              </a:spcBef>
            </a:pPr>
            <a:r>
              <a:rPr lang="en-US" b="true" sz="2216" spc="-1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1. Smarter &amp; Faster Monitoring</a:t>
            </a:r>
          </a:p>
          <a:p>
            <a:pPr algn="just">
              <a:lnSpc>
                <a:spcPts val="3012"/>
              </a:lnSpc>
              <a:spcBef>
                <a:spcPct val="0"/>
              </a:spcBef>
            </a:pPr>
            <a:r>
              <a:rPr lang="en-US" sz="2216" spc="-11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AI-driven risk analysis helps authorities identify anomalies, delays and cost deviations early, reducing manual monitoring</a:t>
            </a:r>
            <a:r>
              <a:rPr lang="en-US" b="true" sz="2216" spc="-1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 </a:t>
            </a:r>
            <a:r>
              <a:rPr lang="en-US" sz="2216" spc="-11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effort.</a:t>
            </a:r>
          </a:p>
          <a:p>
            <a:pPr algn="just">
              <a:lnSpc>
                <a:spcPts val="3012"/>
              </a:lnSpc>
              <a:spcBef>
                <a:spcPct val="0"/>
              </a:spcBef>
            </a:pPr>
            <a:r>
              <a:rPr lang="en-US" b="true" sz="2216" spc="-1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2. Stronger Accountability</a:t>
            </a:r>
          </a:p>
          <a:p>
            <a:pPr algn="just">
              <a:lnSpc>
                <a:spcPts val="3012"/>
              </a:lnSpc>
              <a:spcBef>
                <a:spcPct val="0"/>
              </a:spcBef>
            </a:pPr>
            <a:r>
              <a:rPr lang="en-US" b="true" sz="2216" spc="-1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 </a:t>
            </a:r>
            <a:r>
              <a:rPr lang="en-US" sz="2216" spc="-11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Field verification combined with a permissioned audit trail creates greater traceability across MPLADS implementation.</a:t>
            </a:r>
          </a:p>
          <a:p>
            <a:pPr algn="just">
              <a:lnSpc>
                <a:spcPts val="3012"/>
              </a:lnSpc>
              <a:spcBef>
                <a:spcPct val="0"/>
              </a:spcBef>
            </a:pPr>
            <a:r>
              <a:rPr lang="en-US" b="true" sz="2216" spc="-1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3. Trusted Evidence &amp; Records</a:t>
            </a:r>
          </a:p>
          <a:p>
            <a:pPr algn="just">
              <a:lnSpc>
                <a:spcPts val="3012"/>
              </a:lnSpc>
              <a:spcBef>
                <a:spcPct val="0"/>
              </a:spcBef>
            </a:pPr>
            <a:r>
              <a:rPr lang="en-US" b="true" sz="2216" spc="-1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 </a:t>
            </a:r>
            <a:r>
              <a:rPr lang="en-US" sz="2216" spc="-11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IPFS-based evidence with CID-linked blockchain records provides verifiable and tamper-evident project records.</a:t>
            </a:r>
          </a:p>
          <a:p>
            <a:pPr algn="just">
              <a:lnSpc>
                <a:spcPts val="3012"/>
              </a:lnSpc>
              <a:spcBef>
                <a:spcPct val="0"/>
              </a:spcBef>
            </a:pPr>
            <a:r>
              <a:rPr lang="en-US" b="true" sz="2216" spc="-1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4. Greater Transparency</a:t>
            </a:r>
          </a:p>
          <a:p>
            <a:pPr algn="just">
              <a:lnSpc>
                <a:spcPts val="3012"/>
              </a:lnSpc>
              <a:spcBef>
                <a:spcPct val="0"/>
              </a:spcBef>
            </a:pPr>
            <a:r>
              <a:rPr lang="en-US" sz="2216" spc="-11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A citizen-facing portal improves access to permitted project information and strengthens public visibility of development works.</a:t>
            </a:r>
          </a:p>
          <a:p>
            <a:pPr algn="just">
              <a:lnSpc>
                <a:spcPts val="3012"/>
              </a:lnSpc>
              <a:spcBef>
                <a:spcPct val="0"/>
              </a:spcBef>
            </a:pPr>
            <a:r>
              <a:rPr lang="en-US" b="true" sz="2216" spc="-1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5. Explainable, Grounded AI Analytics</a:t>
            </a:r>
          </a:p>
          <a:p>
            <a:pPr algn="just">
              <a:lnSpc>
                <a:spcPts val="3012"/>
              </a:lnSpc>
              <a:spcBef>
                <a:spcPct val="0"/>
              </a:spcBef>
            </a:pPr>
            <a:r>
              <a:rPr lang="en-US" sz="2216" spc="-11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Per-factor risk-score explanations and a grounded AI assistant give reviewers a direct, queryable answer instead of a black-box number.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992902" y="7068475"/>
            <a:ext cx="7469389" cy="1721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9"/>
              </a:lnSpc>
              <a:spcBef>
                <a:spcPct val="0"/>
              </a:spcBef>
            </a:pPr>
          </a:p>
          <a:p>
            <a:pPr algn="ctr">
              <a:lnSpc>
                <a:spcPts val="2717"/>
              </a:lnSpc>
              <a:spcBef>
                <a:spcPct val="0"/>
              </a:spcBef>
            </a:pPr>
            <a:r>
              <a:rPr lang="en-US" b="true" sz="1999" spc="-9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USP 4 – Geotagged Evidence:</a:t>
            </a:r>
          </a:p>
          <a:p>
            <a:pPr algn="ctr">
              <a:lnSpc>
                <a:spcPts val="2719"/>
              </a:lnSpc>
              <a:spcBef>
                <a:spcPct val="0"/>
              </a:spcBef>
            </a:pPr>
            <a:r>
              <a:rPr lang="en-US" sz="1999" spc="-1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Photos are embedded with GPS location, timestamp, and Officer ID in EXIF metadata for traceable and accountable field verification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714474" y="1960371"/>
            <a:ext cx="7330429" cy="1378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9"/>
              </a:lnSpc>
              <a:spcBef>
                <a:spcPct val="0"/>
              </a:spcBef>
            </a:pPr>
            <a:r>
              <a:rPr lang="en-US" b="true" sz="1999" spc="-10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USP 1 – Verifiable Evidence Provenance</a:t>
            </a:r>
          </a:p>
          <a:p>
            <a:pPr algn="ctr">
              <a:lnSpc>
                <a:spcPts val="2719"/>
              </a:lnSpc>
              <a:spcBef>
                <a:spcPct val="0"/>
              </a:spcBef>
            </a:pPr>
            <a:r>
              <a:rPr lang="en-US" sz="1999" spc="-1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Field evidence is stored on IPFS and linked through CIDs, creating a persistent reference that can be independently verified.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0" y="3653383"/>
            <a:ext cx="6605511" cy="1378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9"/>
              </a:lnSpc>
              <a:spcBef>
                <a:spcPct val="0"/>
              </a:spcBef>
            </a:pPr>
            <a:r>
              <a:rPr lang="en-US" b="true" sz="1999" spc="-10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USP 2 – Permissioned Web3 Audit Trail</a:t>
            </a:r>
          </a:p>
          <a:p>
            <a:pPr algn="ctr">
              <a:lnSpc>
                <a:spcPts val="2719"/>
              </a:lnSpc>
              <a:spcBef>
                <a:spcPct val="0"/>
              </a:spcBef>
            </a:pPr>
            <a:r>
              <a:rPr lang="en-US" sz="1999" spc="-1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A permissioned blockchain maintains a trusted history of critical project events across authorized stakeholders.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114327" y="5095875"/>
            <a:ext cx="7173673" cy="2064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9"/>
              </a:lnSpc>
              <a:spcBef>
                <a:spcPct val="0"/>
              </a:spcBef>
            </a:pPr>
            <a:r>
              <a:rPr lang="en-US" b="true" sz="1999" spc="-10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USP 3 – Integrated MPLADS Ecosystem</a:t>
            </a:r>
          </a:p>
          <a:p>
            <a:pPr algn="ctr">
              <a:lnSpc>
                <a:spcPts val="2719"/>
              </a:lnSpc>
              <a:spcBef>
                <a:spcPct val="0"/>
              </a:spcBef>
            </a:pPr>
            <a:r>
              <a:rPr lang="en-US" sz="1999" spc="-1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A </a:t>
            </a:r>
            <a:r>
              <a:rPr lang="en-US" b="true" sz="1999" spc="-10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Flutter-based mobile application </a:t>
            </a:r>
            <a:r>
              <a:rPr lang="en-US" sz="1999" spc="-1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connects field officers with the central MPLADS monitoring ecosystem, enabling seamless project verification and real-time evidence submission.</a:t>
            </a:r>
          </a:p>
          <a:p>
            <a:pPr algn="ctr">
              <a:lnSpc>
                <a:spcPts val="271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</a:t>
              </a: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eam MetaMinds_404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554516" cy="170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</a:t>
              </a: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etaMinds_404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33802" y="1940443"/>
            <a:ext cx="17311101" cy="7448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7"/>
              </a:lnSpc>
            </a:pPr>
            <a:r>
              <a:rPr lang="en-US" b="true" sz="1889" spc="-9" u="sng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  <a:hlinkClick r:id="rId4" tooltip="https://mplads.mospi.gov.in/digigov/dashboard.html"/>
              </a:rPr>
              <a:t>1. MPLADS eSAKSHI Public Das</a:t>
            </a:r>
            <a:r>
              <a:rPr lang="en-US" b="true" sz="1889" spc="-9" u="sng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  <a:hlinkClick r:id="rId5" tooltip="https://mplads.mospi.gov.in/digigov/dashboard.html"/>
              </a:rPr>
              <a:t>hboard</a:t>
            </a:r>
          </a:p>
          <a:p>
            <a:pPr algn="l">
              <a:lnSpc>
                <a:spcPts val="2567"/>
              </a:lnSpc>
            </a:pPr>
            <a:r>
              <a:rPr lang="en-US" b="true" sz="1889" spc="-9" u="sng">
                <a:solidFill>
                  <a:srgbClr val="0070C0"/>
                </a:solidFill>
                <a:latin typeface="Tomorrow Bold"/>
                <a:ea typeface="Tomorrow Bold"/>
                <a:cs typeface="Tomorrow Bold"/>
                <a:sym typeface="Tomorrow Bold"/>
                <a:hlinkClick r:id="rId6" tooltip="https://mplads.mospi.gov.in/digigov/dashboard.html?utm_source=chatgpt.com"/>
              </a:rPr>
              <a:t>mplads.mospi.gov.in/digigov/dashboard.html</a:t>
            </a:r>
          </a:p>
          <a:p>
            <a:pPr algn="l">
              <a:lnSpc>
                <a:spcPts val="2567"/>
              </a:lnSpc>
            </a:pPr>
            <a:r>
              <a:rPr lang="en-US" sz="1889" spc="-9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  <a:hlinkClick r:id="rId7" tooltip="https://mplads.mospi.gov.in/digigov/dashboard.html"/>
              </a:rPr>
              <a:t>The official MPLADS dashboard provides project, expenditure and implementation information and forms the primary data source for our proposed monitoring system. </a:t>
            </a:r>
          </a:p>
          <a:p>
            <a:pPr algn="l">
              <a:lnSpc>
                <a:spcPts val="2567"/>
              </a:lnSpc>
            </a:pPr>
            <a:r>
              <a:rPr lang="en-US" b="true" sz="1889" spc="-9" u="sng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  <a:hlinkClick r:id="rId8" tooltip="https://mplads.mospi.gov.in/digigov/dashboard.html"/>
              </a:rPr>
              <a:t>2. MPLADS – Official Portal</a:t>
            </a:r>
          </a:p>
          <a:p>
            <a:pPr algn="l">
              <a:lnSpc>
                <a:spcPts val="2567"/>
              </a:lnSpc>
            </a:pPr>
            <a:r>
              <a:rPr lang="en-US" b="true" sz="1889" spc="-9" u="sng">
                <a:solidFill>
                  <a:srgbClr val="4A7EBB"/>
                </a:solidFill>
                <a:latin typeface="Tomorrow Bold"/>
                <a:ea typeface="Tomorrow Bold"/>
                <a:cs typeface="Tomorrow Bold"/>
                <a:sym typeface="Tomorrow Bold"/>
                <a:hlinkClick r:id="rId9" tooltip="https://www.mplads.gov.in/?utm_source=chatgpt.com"/>
              </a:rPr>
              <a:t>mplads.gov.in</a:t>
            </a:r>
          </a:p>
          <a:p>
            <a:pPr algn="l">
              <a:lnSpc>
                <a:spcPts val="2567"/>
              </a:lnSpc>
            </a:pPr>
            <a:r>
              <a:rPr lang="en-US" sz="1889" spc="-9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  <a:hlinkClick r:id="rId10" tooltip="https://mplads.mospi.gov.in/digigov/dashboard.html"/>
              </a:rPr>
              <a:t> The portal provides MPLADS guidelines, work information and monitoring-related resources, helping understand the existing implementation framework. </a:t>
            </a:r>
          </a:p>
          <a:p>
            <a:pPr algn="l">
              <a:lnSpc>
                <a:spcPts val="2567"/>
              </a:lnSpc>
            </a:pPr>
            <a:r>
              <a:rPr lang="en-US" b="true" sz="1889" spc="-9" u="sng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  <a:hlinkClick r:id="rId11" tooltip="https://mplads.mospi.gov.in/digigov/dashboard.html"/>
              </a:rPr>
              <a:t>3. Revamped Public Dashboard of MPLADS eSAKSHI Portal – PIB</a:t>
            </a:r>
          </a:p>
          <a:p>
            <a:pPr algn="l">
              <a:lnSpc>
                <a:spcPts val="2567"/>
              </a:lnSpc>
            </a:pPr>
            <a:r>
              <a:rPr lang="en-US" b="true" sz="1889" spc="-9" u="sng">
                <a:solidFill>
                  <a:srgbClr val="0070C0"/>
                </a:solidFill>
                <a:latin typeface="Tomorrow Bold"/>
                <a:ea typeface="Tomorrow Bold"/>
                <a:cs typeface="Tomorrow Bold"/>
                <a:sym typeface="Tomorrow Bold"/>
                <a:hlinkClick r:id="rId12" tooltip="https://www.pib.gov.in/PressReleasePage.aspx?PRID=2235932&amp;lang=1&amp;reg=3"/>
              </a:rPr>
              <a:t>https://www.pib.gov.in/PressReleasePage.aspx?PRID=2235932&amp;lang=1&amp;reg=3</a:t>
            </a:r>
          </a:p>
          <a:p>
            <a:pPr algn="l">
              <a:lnSpc>
                <a:spcPts val="2567"/>
              </a:lnSpc>
            </a:pPr>
            <a:r>
              <a:rPr lang="en-US" b="true" sz="1889" spc="-9" u="sng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  <a:hlinkClick r:id="rId13" tooltip="https://mplads.mospi.gov.in/digigov/dashboard.html"/>
              </a:rPr>
              <a:t>4. AI for Public Expenditure Analysis</a:t>
            </a:r>
          </a:p>
          <a:p>
            <a:pPr algn="l">
              <a:lnSpc>
                <a:spcPts val="2567"/>
              </a:lnSpc>
            </a:pPr>
            <a:r>
              <a:rPr lang="en-US" b="true" sz="1889" spc="-9" u="sng">
                <a:solidFill>
                  <a:srgbClr val="0070C0"/>
                </a:solidFill>
                <a:latin typeface="Tomorrow Bold"/>
                <a:ea typeface="Tomorrow Bold"/>
                <a:cs typeface="Tomorrow Bold"/>
                <a:sym typeface="Tomorrow Bold"/>
                <a:hlinkClick r:id="rId14" tooltip="https://www.sciencedirect.com/science/article/pii/S1877050925035513?utm_source=chatgpt.com"/>
              </a:rPr>
              <a:t> </a:t>
            </a:r>
            <a:r>
              <a:rPr lang="en-US" b="true" sz="1889" spc="-9" u="sng">
                <a:solidFill>
                  <a:srgbClr val="0070C0"/>
                </a:solidFill>
                <a:latin typeface="Tomorrow Bold"/>
                <a:ea typeface="Tomorrow Bold"/>
                <a:cs typeface="Tomorrow Bold"/>
                <a:sym typeface="Tomorrow Bold"/>
                <a:hlinkClick r:id="rId15" tooltip="https://www.sciencedirect.com/science/article/pii/S1877050925035513"/>
              </a:rPr>
              <a:t>https://www.sciencedirect.com/science/article/pii/S1877050925035513</a:t>
            </a:r>
            <a:r>
              <a:rPr lang="en-US" b="true" sz="1889" spc="-9" u="sng">
                <a:solidFill>
                  <a:srgbClr val="0070C0"/>
                </a:solidFill>
                <a:latin typeface="Tomorrow Bold"/>
                <a:ea typeface="Tomorrow Bold"/>
                <a:cs typeface="Tomorrow Bold"/>
                <a:sym typeface="Tomorrow Bold"/>
                <a:hlinkClick r:id="rId16" tooltip="https://www.sciencedirect.com/science/article/pii/S1877050925035513?utm_source=chatgpt.com"/>
              </a:rPr>
              <a:t>ScienceDirect</a:t>
            </a:r>
          </a:p>
          <a:p>
            <a:pPr algn="l">
              <a:lnSpc>
                <a:spcPts val="2567"/>
              </a:lnSpc>
            </a:pPr>
            <a:r>
              <a:rPr lang="en-US" sz="1889" spc="-9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  <a:hlinkClick r:id="rId17" tooltip="https://mplads.mospi.gov.in/digigov/dashboard.html"/>
              </a:rPr>
              <a:t> The research explores AI and machine learning for anomaly identification, financial auditing, expenditure efficiency and fiscal accountability in the public sector. </a:t>
            </a:r>
          </a:p>
          <a:p>
            <a:pPr algn="l">
              <a:lnSpc>
                <a:spcPts val="2567"/>
              </a:lnSpc>
            </a:pPr>
            <a:r>
              <a:rPr lang="en-US" b="true" sz="1889" spc="-9" u="sng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  <a:hlinkClick r:id="rId18" tooltip="https://mplads.mospi.gov.in/digigov/dashboard.html"/>
              </a:rPr>
              <a:t>5. Blockchain-Based Transparency in Government Records</a:t>
            </a:r>
          </a:p>
          <a:p>
            <a:pPr algn="l">
              <a:lnSpc>
                <a:spcPts val="2567"/>
              </a:lnSpc>
            </a:pPr>
            <a:r>
              <a:rPr lang="en-US" b="true" sz="1889" spc="-9" u="sng">
                <a:solidFill>
                  <a:srgbClr val="0070C0"/>
                </a:solidFill>
                <a:latin typeface="Tomorrow Bold"/>
                <a:ea typeface="Tomorrow Bold"/>
                <a:cs typeface="Tomorrow Bold"/>
                <a:sym typeface="Tomorrow Bold"/>
                <a:hlinkClick r:id="rId19" tooltip="https://www.sciencedirect.com/science/article/pii/S2667096824000934"/>
              </a:rPr>
              <a:t>https://www.sciencedirect.com/science/article/pii/S2667096824000934</a:t>
            </a:r>
          </a:p>
          <a:p>
            <a:pPr algn="l">
              <a:lnSpc>
                <a:spcPts val="2567"/>
              </a:lnSpc>
            </a:pPr>
            <a:r>
              <a:rPr lang="en-US" sz="1889" spc="-9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  <a:hlinkClick r:id="rId20" tooltip="https://mplads.mospi.gov.in/digigov/dashboard.html"/>
              </a:rPr>
              <a:t> The study demonstrates how blockchain-based government records can improve transparency, accountability and verifiable audit trails. </a:t>
            </a:r>
          </a:p>
          <a:p>
            <a:pPr algn="l">
              <a:lnSpc>
                <a:spcPts val="2567"/>
              </a:lnSpc>
            </a:pPr>
            <a:r>
              <a:rPr lang="en-US" b="true" sz="1889" spc="-9" u="sng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  <a:hlinkClick r:id="rId21" tooltip="https://mplads.mospi.gov.in/digigov/dashboard.html"/>
              </a:rPr>
              <a:t>6. Blockchain Governance in the Public Sector</a:t>
            </a:r>
          </a:p>
          <a:p>
            <a:pPr algn="l">
              <a:lnSpc>
                <a:spcPts val="2567"/>
              </a:lnSpc>
            </a:pPr>
            <a:r>
              <a:rPr lang="en-US" b="true" sz="1889" spc="-9" u="sng">
                <a:solidFill>
                  <a:srgbClr val="0070C0"/>
                </a:solidFill>
                <a:latin typeface="Tomorrow Bold"/>
                <a:ea typeface="Tomorrow Bold"/>
                <a:cs typeface="Tomorrow Bold"/>
                <a:sym typeface="Tomorrow Bold"/>
                <a:hlinkClick r:id="rId22" tooltip="https://www.sciencedirect.com/science/article/pii/S0740624X21000617"/>
              </a:rPr>
              <a:t>https://www.sciencedirect.com/science/article/pii/S0740624X21000617</a:t>
            </a:r>
          </a:p>
          <a:p>
            <a:pPr algn="l">
              <a:lnSpc>
                <a:spcPts val="2567"/>
              </a:lnSpc>
            </a:pPr>
            <a:r>
              <a:rPr lang="en-US" sz="1889" spc="-9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  <a:hlinkClick r:id="rId23" tooltip="https://mplads.mospi.gov.in/digigov/dashboard.html"/>
              </a:rPr>
              <a:t> The research examines blockchain adoption in public-sector environments, including architecture, interoperability, accountability and governance considerations.</a:t>
            </a:r>
            <a:r>
              <a:rPr lang="en-US" b="true" sz="1889" spc="-9" u="sng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  <a:hlinkClick r:id="rId24" tooltip="https://mplads.mospi.gov.in/digigov/dashboard.html"/>
              </a:rPr>
              <a:t> </a:t>
            </a:r>
          </a:p>
          <a:p>
            <a:pPr algn="l">
              <a:lnSpc>
                <a:spcPts val="2567"/>
              </a:lnSpc>
            </a:pPr>
          </a:p>
          <a:p>
            <a:pPr algn="l">
              <a:lnSpc>
                <a:spcPts val="2568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DAHTlAhMmTY</dc:identifier>
  <dcterms:modified xsi:type="dcterms:W3CDTF">2011-08-01T06:04:30Z</dcterms:modified>
  <cp:revision>1</cp:revision>
  <dc:title>ISIH 26-102 PS</dc:title>
</cp:coreProperties>
</file>